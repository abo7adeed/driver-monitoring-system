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Calibri" panose="020F0502020204030204" pitchFamily="34" charset="0"/>
      <p:regular r:id="rId25"/>
      <p:bold r:id="rId26"/>
    </p:embeddedFont>
    <p:embeddedFont>
      <p:font typeface="Canva Sans" panose="020B0604020202020204" charset="0"/>
      <p:regular r:id="rId27"/>
    </p:embeddedFont>
    <p:embeddedFont>
      <p:font typeface="Canva San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9.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0" y="1140294"/>
            <a:ext cx="8646831" cy="8272437"/>
            <a:chOff x="0" y="0"/>
            <a:chExt cx="11529108" cy="11029916"/>
          </a:xfrm>
        </p:grpSpPr>
        <p:grpSp>
          <p:nvGrpSpPr>
            <p:cNvPr id="4" name="Group 4"/>
            <p:cNvGrpSpPr>
              <a:grpSpLocks noChangeAspect="1"/>
            </p:cNvGrpSpPr>
            <p:nvPr/>
          </p:nvGrpSpPr>
          <p:grpSpPr>
            <a:xfrm>
              <a:off x="499192" y="0"/>
              <a:ext cx="11029916" cy="11029916"/>
              <a:chOff x="0" y="0"/>
              <a:chExt cx="19050000" cy="19050000"/>
            </a:xfrm>
          </p:grpSpPr>
          <p:sp>
            <p:nvSpPr>
              <p:cNvPr id="5" name="Freeform 5"/>
              <p:cNvSpPr/>
              <p:nvPr/>
            </p:nvSpPr>
            <p:spPr>
              <a:xfrm>
                <a:off x="348882" y="766744"/>
                <a:ext cx="18352235" cy="17516512"/>
              </a:xfrm>
              <a:custGeom>
                <a:avLst/>
                <a:gdLst/>
                <a:ahLst/>
                <a:cxnLst/>
                <a:rect l="l" t="t" r="r" b="b"/>
                <a:pathLst>
                  <a:path w="18352235" h="17516512">
                    <a:moveTo>
                      <a:pt x="9176118" y="14013"/>
                    </a:moveTo>
                    <a:cubicBezTo>
                      <a:pt x="6042785" y="0"/>
                      <a:pt x="3141451" y="1663572"/>
                      <a:pt x="1570726" y="4374807"/>
                    </a:cubicBezTo>
                    <a:cubicBezTo>
                      <a:pt x="0" y="7086041"/>
                      <a:pt x="0" y="10430470"/>
                      <a:pt x="1570726" y="13141705"/>
                    </a:cubicBezTo>
                    <a:cubicBezTo>
                      <a:pt x="3141451" y="15852939"/>
                      <a:pt x="6042785" y="17516512"/>
                      <a:pt x="9176118" y="17502499"/>
                    </a:cubicBezTo>
                    <a:cubicBezTo>
                      <a:pt x="12309451" y="17516512"/>
                      <a:pt x="15210784" y="15852939"/>
                      <a:pt x="16781510" y="13141705"/>
                    </a:cubicBezTo>
                    <a:cubicBezTo>
                      <a:pt x="18352235" y="10430470"/>
                      <a:pt x="18352235" y="7086041"/>
                      <a:pt x="16781510" y="4374807"/>
                    </a:cubicBezTo>
                    <a:cubicBezTo>
                      <a:pt x="15210784" y="1663572"/>
                      <a:pt x="12309451" y="0"/>
                      <a:pt x="9176118" y="14013"/>
                    </a:cubicBezTo>
                    <a:close/>
                  </a:path>
                </a:pathLst>
              </a:custGeom>
              <a:blipFill>
                <a:blip r:embed="rId3">
                  <a:alphaModFix amt="99000"/>
                </a:blip>
                <a:stretch>
                  <a:fillRect l="-38492" r="-38492"/>
                </a:stretch>
              </a:blipFill>
            </p:spPr>
            <p:txBody>
              <a:bodyPr/>
              <a:lstStyle/>
              <a:p>
                <a:endParaRPr lang="en-001"/>
              </a:p>
            </p:txBody>
          </p:sp>
          <p:sp>
            <p:nvSpPr>
              <p:cNvPr id="6" name="Freeform 6"/>
              <p:cNvSpPr/>
              <p:nvPr/>
            </p:nvSpPr>
            <p:spPr>
              <a:xfrm>
                <a:off x="0" y="0"/>
                <a:ext cx="19050000" cy="19050000"/>
              </a:xfrm>
              <a:custGeom>
                <a:avLst/>
                <a:gdLst/>
                <a:ahLst/>
                <a:cxnLst/>
                <a:rect l="l" t="t" r="r" b="b"/>
                <a:pathLst>
                  <a:path w="19050000" h="19050000">
                    <a:moveTo>
                      <a:pt x="0" y="0"/>
                    </a:moveTo>
                    <a:lnTo>
                      <a:pt x="19050000" y="0"/>
                    </a:lnTo>
                    <a:lnTo>
                      <a:pt x="19050000" y="19050000"/>
                    </a:lnTo>
                    <a:lnTo>
                      <a:pt x="0" y="19050000"/>
                    </a:lnTo>
                    <a:close/>
                  </a:path>
                </a:pathLst>
              </a:custGeom>
              <a:blipFill>
                <a:blip r:embed="rId4">
                  <a:alphaModFix amt="99000"/>
                </a:blip>
                <a:stretch>
                  <a:fillRect/>
                </a:stretch>
              </a:blipFill>
            </p:spPr>
            <p:txBody>
              <a:bodyPr/>
              <a:lstStyle/>
              <a:p>
                <a:endParaRPr lang="en-001"/>
              </a:p>
            </p:txBody>
          </p:sp>
        </p:grpSp>
        <p:sp>
          <p:nvSpPr>
            <p:cNvPr id="7" name="TextBox 7"/>
            <p:cNvSpPr txBox="1"/>
            <p:nvPr/>
          </p:nvSpPr>
          <p:spPr>
            <a:xfrm>
              <a:off x="0" y="1750718"/>
              <a:ext cx="11225677" cy="6520861"/>
            </a:xfrm>
            <a:prstGeom prst="rect">
              <a:avLst/>
            </a:prstGeom>
          </p:spPr>
          <p:txBody>
            <a:bodyPr lIns="0" tIns="0" rIns="0" bIns="0" rtlCol="0" anchor="t">
              <a:spAutoFit/>
            </a:bodyPr>
            <a:lstStyle/>
            <a:p>
              <a:pPr algn="ctr">
                <a:lnSpc>
                  <a:spcPts val="13816"/>
                </a:lnSpc>
              </a:pPr>
              <a:r>
                <a:rPr lang="en-US" sz="9868">
                  <a:solidFill>
                    <a:srgbClr val="FFFFFF"/>
                  </a:solidFill>
                  <a:latin typeface="Canva Sans Bold"/>
                </a:rPr>
                <a:t>DRIVER</a:t>
              </a:r>
            </a:p>
            <a:p>
              <a:pPr algn="ctr">
                <a:lnSpc>
                  <a:spcPts val="11866"/>
                </a:lnSpc>
              </a:pPr>
              <a:r>
                <a:rPr lang="en-US" sz="8475">
                  <a:solidFill>
                    <a:srgbClr val="FFFFFF"/>
                  </a:solidFill>
                  <a:latin typeface="Canva Sans Bold"/>
                </a:rPr>
                <a:t>MONITORING</a:t>
              </a:r>
            </a:p>
            <a:p>
              <a:pPr algn="ctr">
                <a:lnSpc>
                  <a:spcPts val="13816"/>
                </a:lnSpc>
              </a:pPr>
              <a:r>
                <a:rPr lang="en-US" sz="9868">
                  <a:solidFill>
                    <a:srgbClr val="FFFFFF"/>
                  </a:solidFill>
                  <a:latin typeface="Canva Sans Bold"/>
                </a:rPr>
                <a:t>SYTEM</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TextBox 3"/>
          <p:cNvSpPr txBox="1"/>
          <p:nvPr/>
        </p:nvSpPr>
        <p:spPr>
          <a:xfrm>
            <a:off x="189623" y="720124"/>
            <a:ext cx="5141952" cy="887095"/>
          </a:xfrm>
          <a:prstGeom prst="rect">
            <a:avLst/>
          </a:prstGeom>
        </p:spPr>
        <p:txBody>
          <a:bodyPr lIns="0" tIns="0" rIns="0" bIns="0" rtlCol="0" anchor="t">
            <a:spAutoFit/>
          </a:bodyPr>
          <a:lstStyle/>
          <a:p>
            <a:pPr>
              <a:lnSpc>
                <a:spcPts val="7279"/>
              </a:lnSpc>
            </a:pPr>
            <a:r>
              <a:rPr lang="en-US" sz="5199">
                <a:solidFill>
                  <a:srgbClr val="FFFFFF"/>
                </a:solidFill>
                <a:latin typeface="Canva Sans Bold"/>
              </a:rPr>
              <a:t>Team members:</a:t>
            </a:r>
          </a:p>
        </p:txBody>
      </p:sp>
      <p:sp>
        <p:nvSpPr>
          <p:cNvPr id="4" name="TextBox 4"/>
          <p:cNvSpPr txBox="1"/>
          <p:nvPr/>
        </p:nvSpPr>
        <p:spPr>
          <a:xfrm>
            <a:off x="367721" y="2968157"/>
            <a:ext cx="6959918" cy="3945780"/>
          </a:xfrm>
          <a:prstGeom prst="rect">
            <a:avLst/>
          </a:prstGeom>
        </p:spPr>
        <p:txBody>
          <a:bodyPr lIns="0" tIns="0" rIns="0" bIns="0" rtlCol="0" anchor="t">
            <a:spAutoFit/>
          </a:bodyPr>
          <a:lstStyle/>
          <a:p>
            <a:pPr marL="587006" lvl="1" indent="-293503" algn="ctr">
              <a:lnSpc>
                <a:spcPts val="3806"/>
              </a:lnSpc>
              <a:buFont typeface="Arial"/>
              <a:buChar char="•"/>
            </a:pPr>
            <a:r>
              <a:rPr lang="en-US" sz="2718">
                <a:solidFill>
                  <a:srgbClr val="FFFFFF"/>
                </a:solidFill>
                <a:latin typeface="Canva Sans Bold"/>
              </a:rPr>
              <a:t>Ahmed Abdelaal Ahmed Abo-Hadeed.</a:t>
            </a:r>
          </a:p>
          <a:p>
            <a:pPr marL="587006" lvl="1" indent="-293503">
              <a:lnSpc>
                <a:spcPts val="3806"/>
              </a:lnSpc>
              <a:buFont typeface="Arial"/>
              <a:buChar char="•"/>
            </a:pPr>
            <a:r>
              <a:rPr lang="en-US" sz="2718">
                <a:solidFill>
                  <a:srgbClr val="FFFFFF"/>
                </a:solidFill>
                <a:latin typeface="Canva Sans Bold"/>
              </a:rPr>
              <a:t>Ali Nabil Ali .</a:t>
            </a:r>
          </a:p>
          <a:p>
            <a:pPr marL="587006" lvl="1" indent="-293503">
              <a:lnSpc>
                <a:spcPts val="6280"/>
              </a:lnSpc>
              <a:buFont typeface="Arial"/>
              <a:buChar char="•"/>
            </a:pPr>
            <a:r>
              <a:rPr lang="en-US" sz="2718" spc="35">
                <a:solidFill>
                  <a:srgbClr val="FFFFFF"/>
                </a:solidFill>
                <a:latin typeface="Canva Sans Bold"/>
              </a:rPr>
              <a:t>idris tarek El-Sayed.</a:t>
            </a:r>
          </a:p>
          <a:p>
            <a:pPr marL="587006" lvl="1" indent="-293503">
              <a:lnSpc>
                <a:spcPts val="6280"/>
              </a:lnSpc>
              <a:buFont typeface="Arial"/>
              <a:buChar char="•"/>
            </a:pPr>
            <a:r>
              <a:rPr lang="en-US" sz="2718" spc="35">
                <a:solidFill>
                  <a:srgbClr val="FFFFFF"/>
                </a:solidFill>
                <a:latin typeface="Canva Sans Bold"/>
              </a:rPr>
              <a:t>Elsayed Sameh Elsayed.</a:t>
            </a:r>
          </a:p>
          <a:p>
            <a:pPr marL="587006" lvl="1" indent="-293503">
              <a:lnSpc>
                <a:spcPts val="6280"/>
              </a:lnSpc>
              <a:buFont typeface="Arial"/>
              <a:buChar char="•"/>
            </a:pPr>
            <a:r>
              <a:rPr lang="en-US" sz="2718" spc="35">
                <a:solidFill>
                  <a:srgbClr val="FFFFFF"/>
                </a:solidFill>
                <a:latin typeface="Canva Sans Bold"/>
              </a:rPr>
              <a:t>Ahmed Mohmed Gouda.</a:t>
            </a:r>
          </a:p>
          <a:p>
            <a:pPr>
              <a:lnSpc>
                <a:spcPts val="6280"/>
              </a:lnSpc>
            </a:pPr>
            <a:endParaRPr lang="en-US" sz="2718" spc="35">
              <a:solidFill>
                <a:srgbClr val="FFFFFF"/>
              </a:solidFill>
              <a:latin typeface="Canva Sans Bold"/>
            </a:endParaRPr>
          </a:p>
        </p:txBody>
      </p:sp>
      <p:sp>
        <p:nvSpPr>
          <p:cNvPr id="5" name="TextBox 5"/>
          <p:cNvSpPr txBox="1"/>
          <p:nvPr/>
        </p:nvSpPr>
        <p:spPr>
          <a:xfrm>
            <a:off x="9291551" y="2958632"/>
            <a:ext cx="6730790" cy="4196229"/>
          </a:xfrm>
          <a:prstGeom prst="rect">
            <a:avLst/>
          </a:prstGeom>
        </p:spPr>
        <p:txBody>
          <a:bodyPr lIns="0" tIns="0" rIns="0" bIns="0" rtlCol="0" anchor="t">
            <a:spAutoFit/>
          </a:bodyPr>
          <a:lstStyle/>
          <a:p>
            <a:pPr marL="723110" lvl="1" indent="-361555">
              <a:lnSpc>
                <a:spcPts val="4688"/>
              </a:lnSpc>
              <a:buFont typeface="Arial"/>
              <a:buChar char="•"/>
            </a:pPr>
            <a:r>
              <a:rPr lang="en-US" sz="3349">
                <a:solidFill>
                  <a:srgbClr val="FFFFFF"/>
                </a:solidFill>
                <a:latin typeface="Canva Sans"/>
              </a:rPr>
              <a:t>Rania Yasser Mohamed.</a:t>
            </a:r>
          </a:p>
          <a:p>
            <a:pPr marL="723110" lvl="1" indent="-361555">
              <a:lnSpc>
                <a:spcPts val="7736"/>
              </a:lnSpc>
              <a:buFont typeface="Arial"/>
              <a:buChar char="•"/>
            </a:pPr>
            <a:r>
              <a:rPr lang="en-US" sz="3349" spc="43">
                <a:solidFill>
                  <a:srgbClr val="FFFFFF"/>
                </a:solidFill>
                <a:latin typeface="Canva Sans"/>
              </a:rPr>
              <a:t>Sherine Ebrahim.</a:t>
            </a:r>
          </a:p>
          <a:p>
            <a:pPr marL="723110" lvl="1" indent="-361555">
              <a:lnSpc>
                <a:spcPts val="7736"/>
              </a:lnSpc>
              <a:buFont typeface="Arial"/>
              <a:buChar char="•"/>
            </a:pPr>
            <a:r>
              <a:rPr lang="en-US" sz="3349" spc="43">
                <a:solidFill>
                  <a:srgbClr val="FFFFFF"/>
                </a:solidFill>
                <a:latin typeface="Canva Sans"/>
              </a:rPr>
              <a:t>Eman Hamada Abdelhady .</a:t>
            </a:r>
          </a:p>
          <a:p>
            <a:pPr marL="723110" lvl="1" indent="-361555">
              <a:lnSpc>
                <a:spcPts val="7736"/>
              </a:lnSpc>
              <a:buFont typeface="Arial"/>
              <a:buChar char="•"/>
            </a:pPr>
            <a:r>
              <a:rPr lang="en-US" sz="3349" spc="43">
                <a:solidFill>
                  <a:srgbClr val="FFFFFF"/>
                </a:solidFill>
                <a:latin typeface="Canva Sans"/>
              </a:rPr>
              <a:t>Khloud Elsayed Elsayed.</a:t>
            </a:r>
          </a:p>
          <a:p>
            <a:pPr>
              <a:lnSpc>
                <a:spcPts val="7736"/>
              </a:lnSpc>
            </a:pPr>
            <a:endParaRPr lang="en-US" sz="3349" spc="43">
              <a:solidFill>
                <a:srgbClr val="FFFFFF"/>
              </a:solidFill>
              <a:latin typeface="Canva Sans"/>
            </a:endParaRPr>
          </a:p>
        </p:txBody>
      </p:sp>
      <p:sp>
        <p:nvSpPr>
          <p:cNvPr id="6" name="TextBox 6"/>
          <p:cNvSpPr txBox="1"/>
          <p:nvPr/>
        </p:nvSpPr>
        <p:spPr>
          <a:xfrm>
            <a:off x="2309379" y="7088186"/>
            <a:ext cx="9165683" cy="1753253"/>
          </a:xfrm>
          <a:prstGeom prst="rect">
            <a:avLst/>
          </a:prstGeom>
        </p:spPr>
        <p:txBody>
          <a:bodyPr lIns="0" tIns="0" rIns="0" bIns="0" rtlCol="0" anchor="t">
            <a:spAutoFit/>
          </a:bodyPr>
          <a:lstStyle/>
          <a:p>
            <a:pPr algn="ctr">
              <a:lnSpc>
                <a:spcPts val="4688"/>
              </a:lnSpc>
            </a:pPr>
            <a:r>
              <a:rPr lang="en-US" sz="3349" spc="43">
                <a:solidFill>
                  <a:srgbClr val="FFFFFF"/>
                </a:solidFill>
                <a:latin typeface="Canva Sans Bold"/>
              </a:rPr>
              <a:t>Supervised by : Dr / Mostafa Abdelsallam</a:t>
            </a:r>
          </a:p>
          <a:p>
            <a:pPr>
              <a:lnSpc>
                <a:spcPts val="4688"/>
              </a:lnSpc>
            </a:pPr>
            <a:r>
              <a:rPr lang="en-US" sz="3349" spc="43">
                <a:solidFill>
                  <a:srgbClr val="FFFFFF"/>
                </a:solidFill>
                <a:latin typeface="Canva Sans Bold"/>
              </a:rPr>
              <a:t>                                  Eng/ Sarah Abdel Mohsen</a:t>
            </a:r>
          </a:p>
          <a:p>
            <a:pPr>
              <a:lnSpc>
                <a:spcPts val="4688"/>
              </a:lnSpc>
              <a:spcBef>
                <a:spcPct val="0"/>
              </a:spcBef>
            </a:pPr>
            <a:r>
              <a:rPr lang="en-US" sz="3349" spc="43">
                <a:solidFill>
                  <a:srgbClr val="FFFFFF"/>
                </a:solidFill>
                <a:latin typeface="Canva Sans Bold"/>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1028700" y="4147977"/>
            <a:ext cx="3041184" cy="3423379"/>
            <a:chOff x="0" y="0"/>
            <a:chExt cx="4054912" cy="4564505"/>
          </a:xfrm>
        </p:grpSpPr>
        <p:sp>
          <p:nvSpPr>
            <p:cNvPr id="4" name="Freeform 4"/>
            <p:cNvSpPr/>
            <p:nvPr/>
          </p:nvSpPr>
          <p:spPr>
            <a:xfrm>
              <a:off x="0" y="0"/>
              <a:ext cx="3422834" cy="3508712"/>
            </a:xfrm>
            <a:custGeom>
              <a:avLst/>
              <a:gdLst/>
              <a:ahLst/>
              <a:cxnLst/>
              <a:rect l="l" t="t" r="r" b="b"/>
              <a:pathLst>
                <a:path w="3422834" h="3508712">
                  <a:moveTo>
                    <a:pt x="0" y="0"/>
                  </a:moveTo>
                  <a:lnTo>
                    <a:pt x="3422834" y="0"/>
                  </a:lnTo>
                  <a:lnTo>
                    <a:pt x="3422834" y="3508712"/>
                  </a:lnTo>
                  <a:lnTo>
                    <a:pt x="0" y="3508712"/>
                  </a:lnTo>
                  <a:lnTo>
                    <a:pt x="0" y="0"/>
                  </a:lnTo>
                  <a:close/>
                </a:path>
              </a:pathLst>
            </a:custGeom>
            <a:blipFill>
              <a:blip r:embed="rId3"/>
              <a:stretch>
                <a:fillRect l="-1254" r="-1254"/>
              </a:stretch>
            </a:blipFill>
          </p:spPr>
          <p:txBody>
            <a:bodyPr/>
            <a:lstStyle/>
            <a:p>
              <a:endParaRPr lang="en-001"/>
            </a:p>
          </p:txBody>
        </p:sp>
        <p:sp>
          <p:nvSpPr>
            <p:cNvPr id="5" name="TextBox 5"/>
            <p:cNvSpPr txBox="1"/>
            <p:nvPr/>
          </p:nvSpPr>
          <p:spPr>
            <a:xfrm>
              <a:off x="0" y="3413462"/>
              <a:ext cx="4054912" cy="1151043"/>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overview</a:t>
              </a:r>
            </a:p>
          </p:txBody>
        </p:sp>
      </p:grpSp>
      <p:grpSp>
        <p:nvGrpSpPr>
          <p:cNvPr id="6" name="Group 6"/>
          <p:cNvGrpSpPr/>
          <p:nvPr/>
        </p:nvGrpSpPr>
        <p:grpSpPr>
          <a:xfrm>
            <a:off x="4576946" y="3666304"/>
            <a:ext cx="5935818" cy="4386725"/>
            <a:chOff x="0" y="0"/>
            <a:chExt cx="7914424" cy="5848966"/>
          </a:xfrm>
        </p:grpSpPr>
        <p:sp>
          <p:nvSpPr>
            <p:cNvPr id="7" name="Freeform 7"/>
            <p:cNvSpPr/>
            <p:nvPr/>
          </p:nvSpPr>
          <p:spPr>
            <a:xfrm>
              <a:off x="1716733" y="0"/>
              <a:ext cx="4480958" cy="4480958"/>
            </a:xfrm>
            <a:custGeom>
              <a:avLst/>
              <a:gdLst/>
              <a:ahLst/>
              <a:cxnLst/>
              <a:rect l="l" t="t" r="r" b="b"/>
              <a:pathLst>
                <a:path w="4480958" h="4480958">
                  <a:moveTo>
                    <a:pt x="0" y="0"/>
                  </a:moveTo>
                  <a:lnTo>
                    <a:pt x="4480958" y="0"/>
                  </a:lnTo>
                  <a:lnTo>
                    <a:pt x="4480958" y="4480958"/>
                  </a:lnTo>
                  <a:lnTo>
                    <a:pt x="0" y="4480958"/>
                  </a:lnTo>
                  <a:lnTo>
                    <a:pt x="0" y="0"/>
                  </a:lnTo>
                  <a:close/>
                </a:path>
              </a:pathLst>
            </a:custGeom>
            <a:blipFill>
              <a:blip r:embed="rId4"/>
              <a:stretch>
                <a:fillRect/>
              </a:stretch>
            </a:blipFill>
          </p:spPr>
          <p:txBody>
            <a:bodyPr/>
            <a:lstStyle/>
            <a:p>
              <a:endParaRPr lang="en-001"/>
            </a:p>
          </p:txBody>
        </p:sp>
        <p:sp>
          <p:nvSpPr>
            <p:cNvPr id="8" name="TextBox 8"/>
            <p:cNvSpPr txBox="1"/>
            <p:nvPr/>
          </p:nvSpPr>
          <p:spPr>
            <a:xfrm>
              <a:off x="0" y="4697923"/>
              <a:ext cx="7914424" cy="1151043"/>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Project Scope</a:t>
              </a:r>
            </a:p>
          </p:txBody>
        </p:sp>
      </p:grpSp>
      <p:sp>
        <p:nvSpPr>
          <p:cNvPr id="9" name="Freeform 9"/>
          <p:cNvSpPr/>
          <p:nvPr/>
        </p:nvSpPr>
        <p:spPr>
          <a:xfrm>
            <a:off x="10402916" y="4371791"/>
            <a:ext cx="3236100" cy="3236100"/>
          </a:xfrm>
          <a:custGeom>
            <a:avLst/>
            <a:gdLst/>
            <a:ahLst/>
            <a:cxnLst/>
            <a:rect l="l" t="t" r="r" b="b"/>
            <a:pathLst>
              <a:path w="3236100" h="3236100">
                <a:moveTo>
                  <a:pt x="0" y="0"/>
                </a:moveTo>
                <a:lnTo>
                  <a:pt x="3236101" y="0"/>
                </a:lnTo>
                <a:lnTo>
                  <a:pt x="3236101" y="3236101"/>
                </a:lnTo>
                <a:lnTo>
                  <a:pt x="0" y="3236101"/>
                </a:lnTo>
                <a:lnTo>
                  <a:pt x="0" y="0"/>
                </a:lnTo>
                <a:close/>
              </a:path>
            </a:pathLst>
          </a:custGeom>
          <a:blipFill>
            <a:blip r:embed="rId5"/>
            <a:stretch>
              <a:fillRect/>
            </a:stretch>
          </a:blipFill>
        </p:spPr>
        <p:txBody>
          <a:bodyPr/>
          <a:lstStyle/>
          <a:p>
            <a:endParaRPr lang="en-001"/>
          </a:p>
        </p:txBody>
      </p:sp>
      <p:sp>
        <p:nvSpPr>
          <p:cNvPr id="10" name="TextBox 10"/>
          <p:cNvSpPr txBox="1"/>
          <p:nvPr/>
        </p:nvSpPr>
        <p:spPr>
          <a:xfrm>
            <a:off x="10204626" y="7291486"/>
            <a:ext cx="3632681" cy="761542"/>
          </a:xfrm>
          <a:prstGeom prst="rect">
            <a:avLst/>
          </a:prstGeom>
        </p:spPr>
        <p:txBody>
          <a:bodyPr lIns="0" tIns="0" rIns="0" bIns="0" rtlCol="0" anchor="t">
            <a:spAutoFit/>
          </a:bodyPr>
          <a:lstStyle/>
          <a:p>
            <a:pPr algn="ctr">
              <a:lnSpc>
                <a:spcPts val="6125"/>
              </a:lnSpc>
            </a:pPr>
            <a:r>
              <a:rPr lang="en-US" sz="4375">
                <a:solidFill>
                  <a:srgbClr val="FFFFFF"/>
                </a:solidFill>
                <a:latin typeface="Canva Sans Bold"/>
              </a:rPr>
              <a:t>methodology</a:t>
            </a:r>
          </a:p>
        </p:txBody>
      </p:sp>
      <p:sp>
        <p:nvSpPr>
          <p:cNvPr id="11" name="TextBox 11"/>
          <p:cNvSpPr txBox="1"/>
          <p:nvPr/>
        </p:nvSpPr>
        <p:spPr>
          <a:xfrm>
            <a:off x="189623" y="691549"/>
            <a:ext cx="3515678" cy="1144271"/>
          </a:xfrm>
          <a:prstGeom prst="rect">
            <a:avLst/>
          </a:prstGeom>
        </p:spPr>
        <p:txBody>
          <a:bodyPr lIns="0" tIns="0" rIns="0" bIns="0" rtlCol="0" anchor="t">
            <a:spAutoFit/>
          </a:bodyPr>
          <a:lstStyle/>
          <a:p>
            <a:pPr>
              <a:lnSpc>
                <a:spcPts val="9379"/>
              </a:lnSpc>
            </a:pPr>
            <a:r>
              <a:rPr lang="en-US" sz="6699">
                <a:solidFill>
                  <a:srgbClr val="FFFFFF"/>
                </a:solidFill>
                <a:latin typeface="Canva Sans Bold"/>
              </a:rPr>
              <a:t>Outlines</a:t>
            </a:r>
          </a:p>
        </p:txBody>
      </p:sp>
      <p:grpSp>
        <p:nvGrpSpPr>
          <p:cNvPr id="12" name="Group 12"/>
          <p:cNvGrpSpPr/>
          <p:nvPr/>
        </p:nvGrpSpPr>
        <p:grpSpPr>
          <a:xfrm>
            <a:off x="14021763" y="4371791"/>
            <a:ext cx="3968474" cy="3681237"/>
            <a:chOff x="0" y="0"/>
            <a:chExt cx="5291299" cy="4908316"/>
          </a:xfrm>
        </p:grpSpPr>
        <p:sp>
          <p:nvSpPr>
            <p:cNvPr id="13" name="Freeform 13"/>
            <p:cNvSpPr/>
            <p:nvPr/>
          </p:nvSpPr>
          <p:spPr>
            <a:xfrm>
              <a:off x="876278" y="0"/>
              <a:ext cx="3538744" cy="3538744"/>
            </a:xfrm>
            <a:custGeom>
              <a:avLst/>
              <a:gdLst/>
              <a:ahLst/>
              <a:cxnLst/>
              <a:rect l="l" t="t" r="r" b="b"/>
              <a:pathLst>
                <a:path w="3538744" h="3538744">
                  <a:moveTo>
                    <a:pt x="0" y="0"/>
                  </a:moveTo>
                  <a:lnTo>
                    <a:pt x="3538743" y="0"/>
                  </a:lnTo>
                  <a:lnTo>
                    <a:pt x="3538743" y="3538744"/>
                  </a:lnTo>
                  <a:lnTo>
                    <a:pt x="0" y="3538744"/>
                  </a:lnTo>
                  <a:lnTo>
                    <a:pt x="0" y="0"/>
                  </a:lnTo>
                  <a:close/>
                </a:path>
              </a:pathLst>
            </a:custGeom>
            <a:blipFill>
              <a:blip r:embed="rId6"/>
              <a:stretch>
                <a:fillRect/>
              </a:stretch>
            </a:blipFill>
          </p:spPr>
          <p:txBody>
            <a:bodyPr/>
            <a:lstStyle/>
            <a:p>
              <a:endParaRPr lang="en-001"/>
            </a:p>
          </p:txBody>
        </p:sp>
        <p:sp>
          <p:nvSpPr>
            <p:cNvPr id="14" name="TextBox 14"/>
            <p:cNvSpPr txBox="1"/>
            <p:nvPr/>
          </p:nvSpPr>
          <p:spPr>
            <a:xfrm>
              <a:off x="0" y="3757273"/>
              <a:ext cx="5291299" cy="1151043"/>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Q&amp;A</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6053494" y="3487021"/>
            <a:ext cx="4071451" cy="4247020"/>
            <a:chOff x="0" y="0"/>
            <a:chExt cx="5428601" cy="5662693"/>
          </a:xfrm>
        </p:grpSpPr>
        <p:sp>
          <p:nvSpPr>
            <p:cNvPr id="4" name="Freeform 4"/>
            <p:cNvSpPr/>
            <p:nvPr/>
          </p:nvSpPr>
          <p:spPr>
            <a:xfrm>
              <a:off x="0" y="0"/>
              <a:ext cx="4606900" cy="4606900"/>
            </a:xfrm>
            <a:custGeom>
              <a:avLst/>
              <a:gdLst/>
              <a:ahLst/>
              <a:cxnLst/>
              <a:rect l="l" t="t" r="r" b="b"/>
              <a:pathLst>
                <a:path w="4606900" h="4606900">
                  <a:moveTo>
                    <a:pt x="0" y="0"/>
                  </a:moveTo>
                  <a:lnTo>
                    <a:pt x="4606900" y="0"/>
                  </a:lnTo>
                  <a:lnTo>
                    <a:pt x="4606900" y="4606900"/>
                  </a:lnTo>
                  <a:lnTo>
                    <a:pt x="0" y="4606900"/>
                  </a:lnTo>
                  <a:lnTo>
                    <a:pt x="0" y="0"/>
                  </a:lnTo>
                  <a:close/>
                </a:path>
              </a:pathLst>
            </a:custGeom>
            <a:blipFill>
              <a:blip r:embed="rId3"/>
              <a:stretch>
                <a:fillRect/>
              </a:stretch>
            </a:blipFill>
          </p:spPr>
          <p:txBody>
            <a:bodyPr/>
            <a:lstStyle/>
            <a:p>
              <a:endParaRPr lang="en-001"/>
            </a:p>
          </p:txBody>
        </p:sp>
        <p:sp>
          <p:nvSpPr>
            <p:cNvPr id="5" name="TextBox 5"/>
            <p:cNvSpPr txBox="1"/>
            <p:nvPr/>
          </p:nvSpPr>
          <p:spPr>
            <a:xfrm>
              <a:off x="0" y="4511650"/>
              <a:ext cx="5428601" cy="1151043"/>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Motivation</a:t>
              </a:r>
            </a:p>
          </p:txBody>
        </p:sp>
      </p:grpSp>
      <p:grpSp>
        <p:nvGrpSpPr>
          <p:cNvPr id="6" name="Group 6"/>
          <p:cNvGrpSpPr/>
          <p:nvPr/>
        </p:nvGrpSpPr>
        <p:grpSpPr>
          <a:xfrm>
            <a:off x="12666613" y="3487021"/>
            <a:ext cx="3792587" cy="4653873"/>
            <a:chOff x="0" y="0"/>
            <a:chExt cx="5056783" cy="6205165"/>
          </a:xfrm>
        </p:grpSpPr>
        <p:sp>
          <p:nvSpPr>
            <p:cNvPr id="7" name="Freeform 7"/>
            <p:cNvSpPr/>
            <p:nvPr/>
          </p:nvSpPr>
          <p:spPr>
            <a:xfrm>
              <a:off x="0" y="0"/>
              <a:ext cx="4306662" cy="4306662"/>
            </a:xfrm>
            <a:custGeom>
              <a:avLst/>
              <a:gdLst/>
              <a:ahLst/>
              <a:cxnLst/>
              <a:rect l="l" t="t" r="r" b="b"/>
              <a:pathLst>
                <a:path w="4306662" h="4306662">
                  <a:moveTo>
                    <a:pt x="0" y="0"/>
                  </a:moveTo>
                  <a:lnTo>
                    <a:pt x="4306662" y="0"/>
                  </a:lnTo>
                  <a:lnTo>
                    <a:pt x="4306662" y="4306662"/>
                  </a:lnTo>
                  <a:lnTo>
                    <a:pt x="0" y="4306662"/>
                  </a:lnTo>
                  <a:lnTo>
                    <a:pt x="0" y="0"/>
                  </a:lnTo>
                  <a:close/>
                </a:path>
              </a:pathLst>
            </a:custGeom>
            <a:blipFill>
              <a:blip r:embed="rId4"/>
              <a:stretch>
                <a:fillRect/>
              </a:stretch>
            </a:blipFill>
          </p:spPr>
          <p:txBody>
            <a:bodyPr/>
            <a:lstStyle/>
            <a:p>
              <a:endParaRPr lang="en-001"/>
            </a:p>
          </p:txBody>
        </p:sp>
        <p:sp>
          <p:nvSpPr>
            <p:cNvPr id="8" name="TextBox 8"/>
            <p:cNvSpPr txBox="1"/>
            <p:nvPr/>
          </p:nvSpPr>
          <p:spPr>
            <a:xfrm>
              <a:off x="241065" y="5039546"/>
              <a:ext cx="4815718" cy="1165619"/>
            </a:xfrm>
            <a:prstGeom prst="rect">
              <a:avLst/>
            </a:prstGeom>
          </p:spPr>
          <p:txBody>
            <a:bodyPr wrap="square" lIns="0" tIns="0" rIns="0" bIns="0" rtlCol="0" anchor="t">
              <a:spAutoFit/>
            </a:bodyPr>
            <a:lstStyle/>
            <a:p>
              <a:pPr algn="ctr">
                <a:lnSpc>
                  <a:spcPts val="7279"/>
                </a:lnSpc>
              </a:pPr>
              <a:r>
                <a:rPr lang="en-US" sz="5199" dirty="0">
                  <a:solidFill>
                    <a:srgbClr val="FFFFFF"/>
                  </a:solidFill>
                  <a:latin typeface="Canva Sans Bold"/>
                </a:rPr>
                <a:t>Objectives</a:t>
              </a:r>
            </a:p>
          </p:txBody>
        </p:sp>
      </p:grpSp>
      <p:grpSp>
        <p:nvGrpSpPr>
          <p:cNvPr id="9" name="Group 9"/>
          <p:cNvGrpSpPr/>
          <p:nvPr/>
        </p:nvGrpSpPr>
        <p:grpSpPr>
          <a:xfrm>
            <a:off x="471452" y="3206567"/>
            <a:ext cx="4142560" cy="4360665"/>
            <a:chOff x="0" y="0"/>
            <a:chExt cx="5523413" cy="5814220"/>
          </a:xfrm>
        </p:grpSpPr>
        <p:sp>
          <p:nvSpPr>
            <p:cNvPr id="10" name="TextBox 10"/>
            <p:cNvSpPr txBox="1"/>
            <p:nvPr/>
          </p:nvSpPr>
          <p:spPr>
            <a:xfrm>
              <a:off x="0" y="5040580"/>
              <a:ext cx="5523413" cy="773640"/>
            </a:xfrm>
            <a:prstGeom prst="rect">
              <a:avLst/>
            </a:prstGeom>
          </p:spPr>
          <p:txBody>
            <a:bodyPr lIns="0" tIns="0" rIns="0" bIns="0" rtlCol="0" anchor="t">
              <a:spAutoFit/>
            </a:bodyPr>
            <a:lstStyle/>
            <a:p>
              <a:pPr algn="ctr">
                <a:lnSpc>
                  <a:spcPts val="4900"/>
                </a:lnSpc>
              </a:pPr>
              <a:r>
                <a:rPr lang="en-US" sz="3500">
                  <a:solidFill>
                    <a:srgbClr val="FFFFFF"/>
                  </a:solidFill>
                  <a:latin typeface="Canva Sans Bold"/>
                </a:rPr>
                <a:t>Problem Statment</a:t>
              </a:r>
            </a:p>
          </p:txBody>
        </p:sp>
        <p:sp>
          <p:nvSpPr>
            <p:cNvPr id="11" name="Freeform 11"/>
            <p:cNvSpPr/>
            <p:nvPr/>
          </p:nvSpPr>
          <p:spPr>
            <a:xfrm>
              <a:off x="416159" y="0"/>
              <a:ext cx="5107255" cy="5107255"/>
            </a:xfrm>
            <a:custGeom>
              <a:avLst/>
              <a:gdLst/>
              <a:ahLst/>
              <a:cxnLst/>
              <a:rect l="l" t="t" r="r" b="b"/>
              <a:pathLst>
                <a:path w="5107255" h="5107255">
                  <a:moveTo>
                    <a:pt x="0" y="0"/>
                  </a:moveTo>
                  <a:lnTo>
                    <a:pt x="5107254" y="0"/>
                  </a:lnTo>
                  <a:lnTo>
                    <a:pt x="5107254" y="5107255"/>
                  </a:lnTo>
                  <a:lnTo>
                    <a:pt x="0" y="5107255"/>
                  </a:lnTo>
                  <a:lnTo>
                    <a:pt x="0" y="0"/>
                  </a:lnTo>
                  <a:close/>
                </a:path>
              </a:pathLst>
            </a:custGeom>
            <a:blipFill>
              <a:blip r:embed="rId5"/>
              <a:stretch>
                <a:fillRect/>
              </a:stretch>
            </a:blipFill>
          </p:spPr>
          <p:txBody>
            <a:bodyPr/>
            <a:lstStyle/>
            <a:p>
              <a:endParaRPr lang="en-001"/>
            </a:p>
          </p:txBody>
        </p:sp>
      </p:grpSp>
      <p:sp>
        <p:nvSpPr>
          <p:cNvPr id="12" name="TextBox 12"/>
          <p:cNvSpPr txBox="1"/>
          <p:nvPr/>
        </p:nvSpPr>
        <p:spPr>
          <a:xfrm>
            <a:off x="89053" y="755602"/>
            <a:ext cx="3492347" cy="887095"/>
          </a:xfrm>
          <a:prstGeom prst="rect">
            <a:avLst/>
          </a:prstGeom>
        </p:spPr>
        <p:txBody>
          <a:bodyPr wrap="square" lIns="0" tIns="0" rIns="0" bIns="0" rtlCol="0" anchor="t">
            <a:spAutoFit/>
          </a:bodyPr>
          <a:lstStyle/>
          <a:p>
            <a:pPr algn="ctr">
              <a:lnSpc>
                <a:spcPts val="7279"/>
              </a:lnSpc>
            </a:pPr>
            <a:r>
              <a:rPr lang="en-US" sz="5199" dirty="0">
                <a:solidFill>
                  <a:srgbClr val="FFFFFF"/>
                </a:solidFill>
                <a:latin typeface="Canva Sans Bold"/>
              </a:rPr>
              <a:t>Overview: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232301" y="1713863"/>
            <a:ext cx="17444152" cy="6262293"/>
            <a:chOff x="0" y="0"/>
            <a:chExt cx="4594345" cy="1649328"/>
          </a:xfrm>
        </p:grpSpPr>
        <p:sp>
          <p:nvSpPr>
            <p:cNvPr id="4" name="Freeform 4"/>
            <p:cNvSpPr/>
            <p:nvPr/>
          </p:nvSpPr>
          <p:spPr>
            <a:xfrm>
              <a:off x="0" y="0"/>
              <a:ext cx="4594344" cy="1649328"/>
            </a:xfrm>
            <a:custGeom>
              <a:avLst/>
              <a:gdLst/>
              <a:ahLst/>
              <a:cxnLst/>
              <a:rect l="l" t="t" r="r" b="b"/>
              <a:pathLst>
                <a:path w="4594344" h="1649328">
                  <a:moveTo>
                    <a:pt x="0" y="0"/>
                  </a:moveTo>
                  <a:lnTo>
                    <a:pt x="4594344" y="0"/>
                  </a:lnTo>
                  <a:lnTo>
                    <a:pt x="4594344" y="1649328"/>
                  </a:lnTo>
                  <a:lnTo>
                    <a:pt x="0" y="1649328"/>
                  </a:lnTo>
                  <a:close/>
                </a:path>
              </a:pathLst>
            </a:custGeom>
            <a:solidFill>
              <a:srgbClr val="4D4E50">
                <a:alpha val="41961"/>
              </a:srgbClr>
            </a:solidFill>
          </p:spPr>
          <p:txBody>
            <a:bodyPr/>
            <a:lstStyle/>
            <a:p>
              <a:endParaRPr lang="en-001"/>
            </a:p>
          </p:txBody>
        </p:sp>
        <p:sp>
          <p:nvSpPr>
            <p:cNvPr id="5" name="TextBox 5"/>
            <p:cNvSpPr txBox="1"/>
            <p:nvPr/>
          </p:nvSpPr>
          <p:spPr>
            <a:xfrm>
              <a:off x="0" y="-38100"/>
              <a:ext cx="4594345" cy="168742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0" y="537527"/>
            <a:ext cx="6141823" cy="887095"/>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Canva Sans Bold"/>
              </a:rPr>
              <a:t>Problem Statment</a:t>
            </a:r>
          </a:p>
        </p:txBody>
      </p:sp>
      <p:sp>
        <p:nvSpPr>
          <p:cNvPr id="7" name="TextBox 7"/>
          <p:cNvSpPr txBox="1"/>
          <p:nvPr/>
        </p:nvSpPr>
        <p:spPr>
          <a:xfrm>
            <a:off x="1314872" y="2139816"/>
            <a:ext cx="6609927" cy="887095"/>
          </a:xfrm>
          <a:prstGeom prst="rect">
            <a:avLst/>
          </a:prstGeom>
        </p:spPr>
        <p:txBody>
          <a:bodyPr wrap="square" lIns="0" tIns="0" rIns="0" bIns="0" rtlCol="0" anchor="t">
            <a:spAutoFit/>
          </a:bodyPr>
          <a:lstStyle/>
          <a:p>
            <a:pPr algn="ctr">
              <a:lnSpc>
                <a:spcPts val="7279"/>
              </a:lnSpc>
            </a:pPr>
            <a:r>
              <a:rPr lang="en-US" sz="5199" dirty="0">
                <a:solidFill>
                  <a:srgbClr val="FFFFFF"/>
                </a:solidFill>
                <a:latin typeface="Canva Sans Bold"/>
              </a:rPr>
              <a:t>What is drowsiness?</a:t>
            </a:r>
          </a:p>
        </p:txBody>
      </p:sp>
      <p:sp>
        <p:nvSpPr>
          <p:cNvPr id="8" name="TextBox 8"/>
          <p:cNvSpPr txBox="1"/>
          <p:nvPr/>
        </p:nvSpPr>
        <p:spPr>
          <a:xfrm>
            <a:off x="2085928" y="3435028"/>
            <a:ext cx="12796542" cy="944716"/>
          </a:xfrm>
          <a:prstGeom prst="rect">
            <a:avLst/>
          </a:prstGeom>
        </p:spPr>
        <p:txBody>
          <a:bodyPr lIns="0" tIns="0" rIns="0" bIns="0" rtlCol="0" anchor="t">
            <a:spAutoFit/>
          </a:bodyPr>
          <a:lstStyle/>
          <a:p>
            <a:pPr>
              <a:lnSpc>
                <a:spcPts val="3793"/>
              </a:lnSpc>
            </a:pPr>
            <a:r>
              <a:rPr lang="en-US" sz="2709" dirty="0">
                <a:solidFill>
                  <a:srgbClr val="FFFFFF"/>
                </a:solidFill>
                <a:latin typeface="Canva Sans"/>
              </a:rPr>
              <a:t>Drowsiness is a state of excessive sleepiness or lethargy, impairing alertness and cognitive function.</a:t>
            </a:r>
          </a:p>
        </p:txBody>
      </p:sp>
      <p:sp>
        <p:nvSpPr>
          <p:cNvPr id="9" name="TextBox 9"/>
          <p:cNvSpPr txBox="1"/>
          <p:nvPr/>
        </p:nvSpPr>
        <p:spPr>
          <a:xfrm>
            <a:off x="1314873" y="4740235"/>
            <a:ext cx="12130088" cy="863600"/>
          </a:xfrm>
          <a:prstGeom prst="rect">
            <a:avLst/>
          </a:prstGeom>
        </p:spPr>
        <p:txBody>
          <a:bodyPr lIns="0" tIns="0" rIns="0" bIns="0" rtlCol="0" anchor="t">
            <a:spAutoFit/>
          </a:bodyPr>
          <a:lstStyle/>
          <a:p>
            <a:pPr>
              <a:lnSpc>
                <a:spcPts val="7000"/>
              </a:lnSpc>
            </a:pPr>
            <a:r>
              <a:rPr lang="en-US" sz="5000">
                <a:solidFill>
                  <a:srgbClr val="FFFFFF"/>
                </a:solidFill>
                <a:latin typeface="Canva Sans Bold"/>
              </a:rPr>
              <a:t>The effect of  Drowsiness on the driver:</a:t>
            </a:r>
          </a:p>
        </p:txBody>
      </p:sp>
      <p:sp>
        <p:nvSpPr>
          <p:cNvPr id="10" name="TextBox 10"/>
          <p:cNvSpPr txBox="1"/>
          <p:nvPr/>
        </p:nvSpPr>
        <p:spPr>
          <a:xfrm>
            <a:off x="1584170" y="5890296"/>
            <a:ext cx="15503590" cy="1047037"/>
          </a:xfrm>
          <a:prstGeom prst="rect">
            <a:avLst/>
          </a:prstGeom>
        </p:spPr>
        <p:txBody>
          <a:bodyPr lIns="0" tIns="0" rIns="0" bIns="0" rtlCol="0" anchor="t">
            <a:spAutoFit/>
          </a:bodyPr>
          <a:lstStyle/>
          <a:p>
            <a:pPr>
              <a:lnSpc>
                <a:spcPts val="4230"/>
              </a:lnSpc>
            </a:pPr>
            <a:r>
              <a:rPr lang="en-US" sz="3021" dirty="0">
                <a:solidFill>
                  <a:srgbClr val="FFFFFF"/>
                </a:solidFill>
                <a:latin typeface="Canva Sans"/>
              </a:rPr>
              <a:t>Drowsiness is dangerous to the driver as it impairs alertness, reaction time, and decision-making, significantly increasing the risk of accidents.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95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0" y="2124981"/>
            <a:ext cx="18288000" cy="7002998"/>
            <a:chOff x="0" y="0"/>
            <a:chExt cx="4816593" cy="1844411"/>
          </a:xfrm>
        </p:grpSpPr>
        <p:sp>
          <p:nvSpPr>
            <p:cNvPr id="4" name="Freeform 4"/>
            <p:cNvSpPr/>
            <p:nvPr/>
          </p:nvSpPr>
          <p:spPr>
            <a:xfrm>
              <a:off x="0" y="0"/>
              <a:ext cx="4816592" cy="1844411"/>
            </a:xfrm>
            <a:custGeom>
              <a:avLst/>
              <a:gdLst/>
              <a:ahLst/>
              <a:cxnLst/>
              <a:rect l="l" t="t" r="r" b="b"/>
              <a:pathLst>
                <a:path w="4816592" h="1844411">
                  <a:moveTo>
                    <a:pt x="0" y="0"/>
                  </a:moveTo>
                  <a:lnTo>
                    <a:pt x="4816592" y="0"/>
                  </a:lnTo>
                  <a:lnTo>
                    <a:pt x="4816592" y="1844411"/>
                  </a:lnTo>
                  <a:lnTo>
                    <a:pt x="0" y="1844411"/>
                  </a:lnTo>
                  <a:close/>
                </a:path>
              </a:pathLst>
            </a:custGeom>
            <a:solidFill>
              <a:srgbClr val="4D4E50">
                <a:alpha val="41961"/>
              </a:srgbClr>
            </a:solidFill>
          </p:spPr>
          <p:txBody>
            <a:bodyPr/>
            <a:lstStyle/>
            <a:p>
              <a:endParaRPr lang="en-001"/>
            </a:p>
          </p:txBody>
        </p:sp>
        <p:sp>
          <p:nvSpPr>
            <p:cNvPr id="5" name="TextBox 5"/>
            <p:cNvSpPr txBox="1"/>
            <p:nvPr/>
          </p:nvSpPr>
          <p:spPr>
            <a:xfrm>
              <a:off x="0" y="-38100"/>
              <a:ext cx="4816593" cy="1882511"/>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45850" y="395310"/>
            <a:ext cx="3727133"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Motivation:</a:t>
            </a:r>
          </a:p>
        </p:txBody>
      </p:sp>
      <p:sp>
        <p:nvSpPr>
          <p:cNvPr id="7" name="TextBox 7"/>
          <p:cNvSpPr txBox="1"/>
          <p:nvPr/>
        </p:nvSpPr>
        <p:spPr>
          <a:xfrm>
            <a:off x="0" y="2258804"/>
            <a:ext cx="18288000" cy="7907742"/>
          </a:xfrm>
          <a:prstGeom prst="rect">
            <a:avLst/>
          </a:prstGeom>
        </p:spPr>
        <p:txBody>
          <a:bodyPr lIns="0" tIns="0" rIns="0" bIns="0" rtlCol="0" anchor="t">
            <a:spAutoFit/>
          </a:bodyPr>
          <a:lstStyle/>
          <a:p>
            <a:pPr marL="1014732" lvl="1" indent="-507366" algn="ctr">
              <a:lnSpc>
                <a:spcPts val="7802"/>
              </a:lnSpc>
              <a:buFont typeface="Arial"/>
              <a:buChar char="•"/>
            </a:pPr>
            <a:r>
              <a:rPr lang="en-US" sz="4700" dirty="0">
                <a:solidFill>
                  <a:srgbClr val="FFFFFF"/>
                </a:solidFill>
                <a:latin typeface="Canva Sans Bold"/>
              </a:rPr>
              <a:t>Drowsiness is a Real Problem With Serious Consequence.</a:t>
            </a:r>
          </a:p>
          <a:p>
            <a:pPr>
              <a:lnSpc>
                <a:spcPts val="7802"/>
              </a:lnSpc>
            </a:pPr>
            <a:endParaRPr lang="en-US" sz="4700" dirty="0">
              <a:solidFill>
                <a:srgbClr val="FFFFFF"/>
              </a:solidFill>
              <a:latin typeface="Canva Sans Bold"/>
            </a:endParaRPr>
          </a:p>
          <a:p>
            <a:pPr marL="1014732" lvl="1" indent="-507366">
              <a:lnSpc>
                <a:spcPts val="7802"/>
              </a:lnSpc>
              <a:buFont typeface="Arial"/>
              <a:buChar char="•"/>
            </a:pPr>
            <a:r>
              <a:rPr lang="en-US" sz="4700" dirty="0">
                <a:solidFill>
                  <a:srgbClr val="FFFFFF"/>
                </a:solidFill>
                <a:latin typeface="Canva Sans Bold"/>
              </a:rPr>
              <a:t>Drowsy Driving accidents Results in over 71,000,and 1500 Deaths .</a:t>
            </a:r>
          </a:p>
          <a:p>
            <a:pPr>
              <a:lnSpc>
                <a:spcPts val="7802"/>
              </a:lnSpc>
            </a:pPr>
            <a:endParaRPr lang="en-US" sz="4700" dirty="0">
              <a:solidFill>
                <a:srgbClr val="FFFFFF"/>
              </a:solidFill>
              <a:latin typeface="Canva Sans Bold"/>
            </a:endParaRPr>
          </a:p>
          <a:p>
            <a:pPr marL="1014732" lvl="1" indent="-507366">
              <a:lnSpc>
                <a:spcPts val="7802"/>
              </a:lnSpc>
              <a:buFont typeface="Arial"/>
              <a:buChar char="•"/>
            </a:pPr>
            <a:r>
              <a:rPr lang="en-US" sz="4700" dirty="0">
                <a:solidFill>
                  <a:srgbClr val="FFFFFF"/>
                </a:solidFill>
                <a:latin typeface="Canva Sans Bold"/>
              </a:rPr>
              <a:t>By detecting Drowsiness and other Sudden Emergencies and warn the Drivers ,they be able to drive long Distance Safely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0" y="161218"/>
            <a:ext cx="18288000" cy="9965865"/>
            <a:chOff x="0" y="0"/>
            <a:chExt cx="4816593" cy="2624755"/>
          </a:xfrm>
        </p:grpSpPr>
        <p:sp>
          <p:nvSpPr>
            <p:cNvPr id="4" name="Freeform 4"/>
            <p:cNvSpPr/>
            <p:nvPr/>
          </p:nvSpPr>
          <p:spPr>
            <a:xfrm>
              <a:off x="0" y="0"/>
              <a:ext cx="4816592" cy="2624755"/>
            </a:xfrm>
            <a:custGeom>
              <a:avLst/>
              <a:gdLst/>
              <a:ahLst/>
              <a:cxnLst/>
              <a:rect l="l" t="t" r="r" b="b"/>
              <a:pathLst>
                <a:path w="4816592" h="2624755">
                  <a:moveTo>
                    <a:pt x="0" y="0"/>
                  </a:moveTo>
                  <a:lnTo>
                    <a:pt x="4816592" y="0"/>
                  </a:lnTo>
                  <a:lnTo>
                    <a:pt x="4816592" y="2624755"/>
                  </a:lnTo>
                  <a:lnTo>
                    <a:pt x="0" y="2624755"/>
                  </a:lnTo>
                  <a:close/>
                </a:path>
              </a:pathLst>
            </a:custGeom>
            <a:solidFill>
              <a:srgbClr val="4D4E50">
                <a:alpha val="41961"/>
              </a:srgbClr>
            </a:solidFill>
          </p:spPr>
          <p:txBody>
            <a:bodyPr/>
            <a:lstStyle/>
            <a:p>
              <a:endParaRPr lang="en-001"/>
            </a:p>
          </p:txBody>
        </p:sp>
        <p:sp>
          <p:nvSpPr>
            <p:cNvPr id="5" name="TextBox 5"/>
            <p:cNvSpPr txBox="1"/>
            <p:nvPr/>
          </p:nvSpPr>
          <p:spPr>
            <a:xfrm>
              <a:off x="0" y="-38100"/>
              <a:ext cx="4816593" cy="2662855"/>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93773" y="395310"/>
            <a:ext cx="3997227" cy="887095"/>
          </a:xfrm>
          <a:prstGeom prst="rect">
            <a:avLst/>
          </a:prstGeom>
        </p:spPr>
        <p:txBody>
          <a:bodyPr wrap="square" lIns="0" tIns="0" rIns="0" bIns="0" rtlCol="0" anchor="t">
            <a:spAutoFit/>
          </a:bodyPr>
          <a:lstStyle/>
          <a:p>
            <a:pPr algn="ctr">
              <a:lnSpc>
                <a:spcPts val="7279"/>
              </a:lnSpc>
            </a:pPr>
            <a:r>
              <a:rPr lang="en-US" sz="5199" dirty="0">
                <a:solidFill>
                  <a:srgbClr val="FFFFFF"/>
                </a:solidFill>
                <a:latin typeface="Canva Sans Bold"/>
              </a:rPr>
              <a:t>Objectives:</a:t>
            </a:r>
          </a:p>
        </p:txBody>
      </p:sp>
      <p:sp>
        <p:nvSpPr>
          <p:cNvPr id="7" name="TextBox 7"/>
          <p:cNvSpPr txBox="1"/>
          <p:nvPr/>
        </p:nvSpPr>
        <p:spPr>
          <a:xfrm>
            <a:off x="610870" y="2140182"/>
            <a:ext cx="17434395" cy="1889931"/>
          </a:xfrm>
          <a:prstGeom prst="rect">
            <a:avLst/>
          </a:prstGeom>
        </p:spPr>
        <p:txBody>
          <a:bodyPr lIns="0" tIns="0" rIns="0" bIns="0" rtlCol="0" anchor="t">
            <a:spAutoFit/>
          </a:bodyPr>
          <a:lstStyle/>
          <a:p>
            <a:pPr marL="775786" lvl="1" indent="-387893">
              <a:lnSpc>
                <a:spcPts val="5030"/>
              </a:lnSpc>
              <a:buFont typeface="Arial"/>
              <a:buChar char="•"/>
            </a:pPr>
            <a:r>
              <a:rPr lang="en-US" sz="3593">
                <a:solidFill>
                  <a:srgbClr val="FFFFFF"/>
                </a:solidFill>
                <a:latin typeface="Canva Sans Bold"/>
              </a:rPr>
              <a:t>to identify the driver and detect his/her levels of vigilance through software and alert him/her in cases of drowsiness, distractions, etc. to avert accident.</a:t>
            </a:r>
          </a:p>
        </p:txBody>
      </p:sp>
      <p:sp>
        <p:nvSpPr>
          <p:cNvPr id="8" name="TextBox 8"/>
          <p:cNvSpPr txBox="1"/>
          <p:nvPr/>
        </p:nvSpPr>
        <p:spPr>
          <a:xfrm>
            <a:off x="1028700" y="5057775"/>
            <a:ext cx="16003044" cy="755015"/>
          </a:xfrm>
          <a:prstGeom prst="rect">
            <a:avLst/>
          </a:prstGeom>
        </p:spPr>
        <p:txBody>
          <a:bodyPr lIns="0" tIns="0" rIns="0" bIns="0" rtlCol="0" anchor="t">
            <a:spAutoFit/>
          </a:bodyPr>
          <a:lstStyle/>
          <a:p>
            <a:pPr marL="949964" lvl="1" indent="-474982">
              <a:lnSpc>
                <a:spcPts val="6160"/>
              </a:lnSpc>
              <a:buFont typeface="Arial"/>
              <a:buChar char="•"/>
            </a:pPr>
            <a:r>
              <a:rPr lang="en-US" sz="4400">
                <a:solidFill>
                  <a:srgbClr val="FFFFFF"/>
                </a:solidFill>
                <a:latin typeface="Canva Sans Bold"/>
              </a:rPr>
              <a:t>Determin Risk Levles .</a:t>
            </a:r>
          </a:p>
        </p:txBody>
      </p:sp>
      <p:sp>
        <p:nvSpPr>
          <p:cNvPr id="9" name="TextBox 9"/>
          <p:cNvSpPr txBox="1"/>
          <p:nvPr/>
        </p:nvSpPr>
        <p:spPr>
          <a:xfrm>
            <a:off x="1198474" y="7008443"/>
            <a:ext cx="15061448" cy="1571625"/>
          </a:xfrm>
          <a:prstGeom prst="rect">
            <a:avLst/>
          </a:prstGeom>
        </p:spPr>
        <p:txBody>
          <a:bodyPr lIns="0" tIns="0" rIns="0" bIns="0" rtlCol="0" anchor="t">
            <a:spAutoFit/>
          </a:bodyPr>
          <a:lstStyle/>
          <a:p>
            <a:pPr marL="971553" lvl="1" indent="-485777">
              <a:lnSpc>
                <a:spcPts val="6300"/>
              </a:lnSpc>
              <a:buFont typeface="Arial"/>
              <a:buChar char="•"/>
            </a:pPr>
            <a:r>
              <a:rPr lang="en-US" sz="4500">
                <a:solidFill>
                  <a:srgbClr val="FFFFFF"/>
                </a:solidFill>
                <a:latin typeface="Canva Sans Bold"/>
              </a:rPr>
              <a:t>ACT Upon These Levels Through Different Scenario For each Level.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grpSp>
        <p:nvGrpSpPr>
          <p:cNvPr id="3" name="Group 3"/>
          <p:cNvGrpSpPr/>
          <p:nvPr/>
        </p:nvGrpSpPr>
        <p:grpSpPr>
          <a:xfrm>
            <a:off x="1028700" y="3024814"/>
            <a:ext cx="4237372" cy="5029217"/>
            <a:chOff x="0" y="0"/>
            <a:chExt cx="5649829" cy="6705622"/>
          </a:xfrm>
        </p:grpSpPr>
        <p:sp>
          <p:nvSpPr>
            <p:cNvPr id="4" name="Freeform 4"/>
            <p:cNvSpPr/>
            <p:nvPr/>
          </p:nvSpPr>
          <p:spPr>
            <a:xfrm>
              <a:off x="0" y="0"/>
              <a:ext cx="5649829" cy="5649829"/>
            </a:xfrm>
            <a:custGeom>
              <a:avLst/>
              <a:gdLst/>
              <a:ahLst/>
              <a:cxnLst/>
              <a:rect l="l" t="t" r="r" b="b"/>
              <a:pathLst>
                <a:path w="5649829" h="5649829">
                  <a:moveTo>
                    <a:pt x="0" y="0"/>
                  </a:moveTo>
                  <a:lnTo>
                    <a:pt x="5649829" y="0"/>
                  </a:lnTo>
                  <a:lnTo>
                    <a:pt x="5649829" y="5649829"/>
                  </a:lnTo>
                  <a:lnTo>
                    <a:pt x="0" y="5649829"/>
                  </a:lnTo>
                  <a:lnTo>
                    <a:pt x="0" y="0"/>
                  </a:lnTo>
                  <a:close/>
                </a:path>
              </a:pathLst>
            </a:custGeom>
            <a:blipFill>
              <a:blip r:embed="rId3"/>
              <a:stretch>
                <a:fillRect/>
              </a:stretch>
            </a:blipFill>
          </p:spPr>
          <p:txBody>
            <a:bodyPr/>
            <a:lstStyle/>
            <a:p>
              <a:endParaRPr lang="en-001"/>
            </a:p>
          </p:txBody>
        </p:sp>
        <p:sp>
          <p:nvSpPr>
            <p:cNvPr id="5" name="TextBox 5"/>
            <p:cNvSpPr txBox="1"/>
            <p:nvPr/>
          </p:nvSpPr>
          <p:spPr>
            <a:xfrm>
              <a:off x="0" y="5554579"/>
              <a:ext cx="5649829" cy="1151043"/>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Featuers</a:t>
              </a:r>
            </a:p>
          </p:txBody>
        </p:sp>
      </p:grpSp>
      <p:sp>
        <p:nvSpPr>
          <p:cNvPr id="6" name="TextBox 6"/>
          <p:cNvSpPr txBox="1"/>
          <p:nvPr/>
        </p:nvSpPr>
        <p:spPr>
          <a:xfrm>
            <a:off x="0" y="290987"/>
            <a:ext cx="5277316"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Project Scope:</a:t>
            </a:r>
          </a:p>
        </p:txBody>
      </p:sp>
      <p:sp>
        <p:nvSpPr>
          <p:cNvPr id="7" name="Freeform 7"/>
          <p:cNvSpPr/>
          <p:nvPr/>
        </p:nvSpPr>
        <p:spPr>
          <a:xfrm>
            <a:off x="10364701" y="2657419"/>
            <a:ext cx="3967515" cy="3967515"/>
          </a:xfrm>
          <a:custGeom>
            <a:avLst/>
            <a:gdLst/>
            <a:ahLst/>
            <a:cxnLst/>
            <a:rect l="l" t="t" r="r" b="b"/>
            <a:pathLst>
              <a:path w="3967515" h="3967515">
                <a:moveTo>
                  <a:pt x="0" y="0"/>
                </a:moveTo>
                <a:lnTo>
                  <a:pt x="3967515" y="0"/>
                </a:lnTo>
                <a:lnTo>
                  <a:pt x="3967515" y="3967515"/>
                </a:lnTo>
                <a:lnTo>
                  <a:pt x="0" y="3967515"/>
                </a:lnTo>
                <a:lnTo>
                  <a:pt x="0" y="0"/>
                </a:lnTo>
                <a:close/>
              </a:path>
            </a:pathLst>
          </a:custGeom>
          <a:blipFill>
            <a:blip r:embed="rId4"/>
            <a:stretch>
              <a:fillRect/>
            </a:stretch>
          </a:blipFill>
        </p:spPr>
        <p:txBody>
          <a:bodyPr/>
          <a:lstStyle/>
          <a:p>
            <a:endParaRPr lang="en-001"/>
          </a:p>
        </p:txBody>
      </p:sp>
      <p:sp>
        <p:nvSpPr>
          <p:cNvPr id="8" name="TextBox 8"/>
          <p:cNvSpPr txBox="1"/>
          <p:nvPr/>
        </p:nvSpPr>
        <p:spPr>
          <a:xfrm>
            <a:off x="10364701" y="6529684"/>
            <a:ext cx="3967515"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Scenarios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4666872" y="2230766"/>
            <a:ext cx="6370636" cy="6370636"/>
          </a:xfrm>
          <a:custGeom>
            <a:avLst/>
            <a:gdLst/>
            <a:ahLst/>
            <a:cxnLst/>
            <a:rect l="l" t="t" r="r" b="b"/>
            <a:pathLst>
              <a:path w="6370636" h="6370636">
                <a:moveTo>
                  <a:pt x="0" y="0"/>
                </a:moveTo>
                <a:lnTo>
                  <a:pt x="6370636" y="0"/>
                </a:lnTo>
                <a:lnTo>
                  <a:pt x="6370636" y="6370636"/>
                </a:lnTo>
                <a:lnTo>
                  <a:pt x="0" y="6370636"/>
                </a:lnTo>
                <a:lnTo>
                  <a:pt x="0" y="0"/>
                </a:lnTo>
                <a:close/>
              </a:path>
            </a:pathLst>
          </a:custGeom>
          <a:blipFill>
            <a:blip r:embed="rId3"/>
            <a:stretch>
              <a:fillRect/>
            </a:stretch>
          </a:blipFill>
        </p:spPr>
        <p:txBody>
          <a:bodyPr/>
          <a:lstStyle/>
          <a:p>
            <a:endParaRPr lang="en-001"/>
          </a:p>
        </p:txBody>
      </p:sp>
      <p:sp>
        <p:nvSpPr>
          <p:cNvPr id="4" name="TextBox 4"/>
          <p:cNvSpPr txBox="1"/>
          <p:nvPr/>
        </p:nvSpPr>
        <p:spPr>
          <a:xfrm>
            <a:off x="265612" y="390577"/>
            <a:ext cx="3163387" cy="887095"/>
          </a:xfrm>
          <a:prstGeom prst="rect">
            <a:avLst/>
          </a:prstGeom>
        </p:spPr>
        <p:txBody>
          <a:bodyPr wrap="square" lIns="0" tIns="0" rIns="0" bIns="0" rtlCol="0" anchor="t">
            <a:spAutoFit/>
          </a:bodyPr>
          <a:lstStyle/>
          <a:p>
            <a:pPr algn="ctr">
              <a:lnSpc>
                <a:spcPts val="7279"/>
              </a:lnSpc>
              <a:spcBef>
                <a:spcPct val="0"/>
              </a:spcBef>
            </a:pPr>
            <a:r>
              <a:rPr lang="en-US" sz="5199" dirty="0">
                <a:solidFill>
                  <a:srgbClr val="FFFFFF"/>
                </a:solidFill>
                <a:latin typeface="Canva Sans Bold"/>
              </a:rPr>
              <a:t>Features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9483148" y="0"/>
            <a:ext cx="8804852" cy="9765729"/>
          </a:xfrm>
          <a:custGeom>
            <a:avLst/>
            <a:gdLst/>
            <a:ahLst/>
            <a:cxnLst/>
            <a:rect l="l" t="t" r="r" b="b"/>
            <a:pathLst>
              <a:path w="8804852" h="9765729">
                <a:moveTo>
                  <a:pt x="0" y="0"/>
                </a:moveTo>
                <a:lnTo>
                  <a:pt x="8804852" y="0"/>
                </a:lnTo>
                <a:lnTo>
                  <a:pt x="8804852" y="9765729"/>
                </a:lnTo>
                <a:lnTo>
                  <a:pt x="0" y="9765729"/>
                </a:lnTo>
                <a:lnTo>
                  <a:pt x="0" y="0"/>
                </a:lnTo>
                <a:close/>
              </a:path>
            </a:pathLst>
          </a:custGeom>
          <a:blipFill>
            <a:blip r:embed="rId3"/>
            <a:stretch>
              <a:fillRect l="-42765" r="-23906"/>
            </a:stretch>
          </a:blipFill>
        </p:spPr>
        <p:txBody>
          <a:bodyPr/>
          <a:lstStyle/>
          <a:p>
            <a:endParaRPr lang="en-001"/>
          </a:p>
        </p:txBody>
      </p:sp>
      <p:sp>
        <p:nvSpPr>
          <p:cNvPr id="4" name="Freeform 4"/>
          <p:cNvSpPr/>
          <p:nvPr/>
        </p:nvSpPr>
        <p:spPr>
          <a:xfrm>
            <a:off x="37735" y="-27742"/>
            <a:ext cx="18288000" cy="10136475"/>
          </a:xfrm>
          <a:custGeom>
            <a:avLst/>
            <a:gdLst/>
            <a:ahLst/>
            <a:cxnLst/>
            <a:rect l="l" t="t" r="r" b="b"/>
            <a:pathLst>
              <a:path w="18288000" h="10136475">
                <a:moveTo>
                  <a:pt x="0" y="0"/>
                </a:moveTo>
                <a:lnTo>
                  <a:pt x="18288000" y="0"/>
                </a:lnTo>
                <a:lnTo>
                  <a:pt x="18288000" y="10136475"/>
                </a:lnTo>
                <a:lnTo>
                  <a:pt x="0" y="10136475"/>
                </a:lnTo>
                <a:lnTo>
                  <a:pt x="0" y="0"/>
                </a:lnTo>
                <a:close/>
              </a:path>
            </a:pathLst>
          </a:custGeom>
          <a:blipFill>
            <a:blip r:embed="rId4"/>
            <a:stretch>
              <a:fillRect l="-1392" t="-14311" b="-14311"/>
            </a:stretch>
          </a:blipFill>
        </p:spPr>
        <p:txBody>
          <a:bodyPr/>
          <a:lstStyle/>
          <a:p>
            <a:endParaRPr lang="en-001"/>
          </a:p>
        </p:txBody>
      </p:sp>
      <p:sp>
        <p:nvSpPr>
          <p:cNvPr id="5" name="TextBox 5"/>
          <p:cNvSpPr txBox="1"/>
          <p:nvPr/>
        </p:nvSpPr>
        <p:spPr>
          <a:xfrm>
            <a:off x="75470" y="381052"/>
            <a:ext cx="3204210" cy="1002666"/>
          </a:xfrm>
          <a:prstGeom prst="rect">
            <a:avLst/>
          </a:prstGeom>
        </p:spPr>
        <p:txBody>
          <a:bodyPr lIns="0" tIns="0" rIns="0" bIns="0" rtlCol="0" anchor="t">
            <a:spAutoFit/>
          </a:bodyPr>
          <a:lstStyle/>
          <a:p>
            <a:pPr algn="ctr">
              <a:lnSpc>
                <a:spcPts val="8259"/>
              </a:lnSpc>
              <a:spcBef>
                <a:spcPct val="0"/>
              </a:spcBef>
            </a:pPr>
            <a:r>
              <a:rPr lang="en-US" sz="5899">
                <a:solidFill>
                  <a:srgbClr val="FFFFFF"/>
                </a:solidFill>
                <a:latin typeface="Canva Sans Bold"/>
              </a:rPr>
              <a:t>Featuers</a:t>
            </a:r>
          </a:p>
        </p:txBody>
      </p:sp>
      <p:sp>
        <p:nvSpPr>
          <p:cNvPr id="6" name="TextBox 6"/>
          <p:cNvSpPr txBox="1"/>
          <p:nvPr/>
        </p:nvSpPr>
        <p:spPr>
          <a:xfrm>
            <a:off x="265613" y="1594649"/>
            <a:ext cx="10010795" cy="8278495"/>
          </a:xfrm>
          <a:prstGeom prst="rect">
            <a:avLst/>
          </a:prstGeom>
        </p:spPr>
        <p:txBody>
          <a:bodyPr lIns="0" tIns="0" rIns="0" bIns="0" rtlCol="0" anchor="t">
            <a:spAutoFit/>
          </a:bodyPr>
          <a:lstStyle/>
          <a:p>
            <a:pPr>
              <a:lnSpc>
                <a:spcPts val="7279"/>
              </a:lnSpc>
            </a:pPr>
            <a:r>
              <a:rPr lang="en-US" sz="5199">
                <a:solidFill>
                  <a:srgbClr val="FFFFFF"/>
                </a:solidFill>
                <a:latin typeface="Canva Sans Bold"/>
              </a:rPr>
              <a:t>⮚The system starts automatically after verifying the driver's identity </a:t>
            </a:r>
          </a:p>
          <a:p>
            <a:pPr>
              <a:lnSpc>
                <a:spcPts val="7279"/>
              </a:lnSpc>
            </a:pPr>
            <a:endParaRPr lang="en-US" sz="5199">
              <a:solidFill>
                <a:srgbClr val="FFFFFF"/>
              </a:solidFill>
              <a:latin typeface="Canva Sans Bold"/>
            </a:endParaRPr>
          </a:p>
          <a:p>
            <a:pPr>
              <a:lnSpc>
                <a:spcPts val="7279"/>
              </a:lnSpc>
            </a:pPr>
            <a:r>
              <a:rPr lang="en-US" sz="5199">
                <a:solidFill>
                  <a:srgbClr val="FFFFFF"/>
                </a:solidFill>
                <a:latin typeface="Canva Sans Bold"/>
              </a:rPr>
              <a:t>⮚Detecting drowsiness level</a:t>
            </a:r>
          </a:p>
          <a:p>
            <a:pPr>
              <a:lnSpc>
                <a:spcPts val="7279"/>
              </a:lnSpc>
            </a:pPr>
            <a:endParaRPr lang="en-US" sz="5199">
              <a:solidFill>
                <a:srgbClr val="FFFFFF"/>
              </a:solidFill>
              <a:latin typeface="Canva Sans Bold"/>
            </a:endParaRPr>
          </a:p>
          <a:p>
            <a:pPr>
              <a:lnSpc>
                <a:spcPts val="7279"/>
              </a:lnSpc>
            </a:pPr>
            <a:r>
              <a:rPr lang="en-US" sz="5199">
                <a:solidFill>
                  <a:srgbClr val="FFFFFF"/>
                </a:solidFill>
                <a:latin typeface="Canva Sans Bold"/>
              </a:rPr>
              <a:t>⮚Actions taken based on drowsiness level</a:t>
            </a:r>
          </a:p>
          <a:p>
            <a:pPr>
              <a:lnSpc>
                <a:spcPts val="7279"/>
              </a:lnSpc>
            </a:pPr>
            <a:endParaRPr lang="en-US" sz="5199">
              <a:solidFill>
                <a:srgbClr val="FFFFFF"/>
              </a:solidFill>
              <a:latin typeface="Canva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11161477" y="1691855"/>
            <a:ext cx="6444719" cy="6340676"/>
          </a:xfrm>
          <a:custGeom>
            <a:avLst/>
            <a:gdLst/>
            <a:ahLst/>
            <a:cxnLst/>
            <a:rect l="l" t="t" r="r" b="b"/>
            <a:pathLst>
              <a:path w="6444719" h="6340676">
                <a:moveTo>
                  <a:pt x="0" y="0"/>
                </a:moveTo>
                <a:lnTo>
                  <a:pt x="6444719" y="0"/>
                </a:lnTo>
                <a:lnTo>
                  <a:pt x="6444719" y="6340676"/>
                </a:lnTo>
                <a:lnTo>
                  <a:pt x="0" y="6340676"/>
                </a:lnTo>
                <a:lnTo>
                  <a:pt x="0" y="0"/>
                </a:lnTo>
                <a:close/>
              </a:path>
            </a:pathLst>
          </a:custGeom>
          <a:blipFill>
            <a:blip r:embed="rId3"/>
            <a:stretch>
              <a:fillRect t="-820" b="-820"/>
            </a:stretch>
          </a:blipFill>
        </p:spPr>
        <p:txBody>
          <a:bodyPr/>
          <a:lstStyle/>
          <a:p>
            <a:endParaRPr lang="en-001"/>
          </a:p>
        </p:txBody>
      </p:sp>
      <p:sp>
        <p:nvSpPr>
          <p:cNvPr id="4" name="Freeform 4"/>
          <p:cNvSpPr/>
          <p:nvPr/>
        </p:nvSpPr>
        <p:spPr>
          <a:xfrm>
            <a:off x="0" y="0"/>
            <a:ext cx="18288000" cy="10136475"/>
          </a:xfrm>
          <a:custGeom>
            <a:avLst/>
            <a:gdLst/>
            <a:ahLst/>
            <a:cxnLst/>
            <a:rect l="l" t="t" r="r" b="b"/>
            <a:pathLst>
              <a:path w="18288000" h="10136475">
                <a:moveTo>
                  <a:pt x="0" y="0"/>
                </a:moveTo>
                <a:lnTo>
                  <a:pt x="18288000" y="0"/>
                </a:lnTo>
                <a:lnTo>
                  <a:pt x="18288000" y="10136475"/>
                </a:lnTo>
                <a:lnTo>
                  <a:pt x="0" y="10136475"/>
                </a:lnTo>
                <a:lnTo>
                  <a:pt x="0" y="0"/>
                </a:lnTo>
                <a:close/>
              </a:path>
            </a:pathLst>
          </a:custGeom>
          <a:blipFill>
            <a:blip r:embed="rId4"/>
            <a:stretch>
              <a:fillRect l="-1392" t="-14311" b="-14311"/>
            </a:stretch>
          </a:blipFill>
        </p:spPr>
        <p:txBody>
          <a:bodyPr/>
          <a:lstStyle/>
          <a:p>
            <a:endParaRPr lang="en-001"/>
          </a:p>
        </p:txBody>
      </p:sp>
      <p:sp>
        <p:nvSpPr>
          <p:cNvPr id="5" name="TextBox 5"/>
          <p:cNvSpPr txBox="1"/>
          <p:nvPr/>
        </p:nvSpPr>
        <p:spPr>
          <a:xfrm>
            <a:off x="37735" y="689190"/>
            <a:ext cx="3204210" cy="1002666"/>
          </a:xfrm>
          <a:prstGeom prst="rect">
            <a:avLst/>
          </a:prstGeom>
        </p:spPr>
        <p:txBody>
          <a:bodyPr lIns="0" tIns="0" rIns="0" bIns="0" rtlCol="0" anchor="t">
            <a:spAutoFit/>
          </a:bodyPr>
          <a:lstStyle/>
          <a:p>
            <a:pPr algn="ctr">
              <a:lnSpc>
                <a:spcPts val="8259"/>
              </a:lnSpc>
              <a:spcBef>
                <a:spcPct val="0"/>
              </a:spcBef>
            </a:pPr>
            <a:r>
              <a:rPr lang="en-US" sz="5899">
                <a:solidFill>
                  <a:srgbClr val="FFFFFF"/>
                </a:solidFill>
                <a:latin typeface="Canva Sans Bold"/>
              </a:rPr>
              <a:t>Featuers</a:t>
            </a:r>
          </a:p>
        </p:txBody>
      </p:sp>
      <p:sp>
        <p:nvSpPr>
          <p:cNvPr id="6" name="TextBox 6"/>
          <p:cNvSpPr txBox="1"/>
          <p:nvPr/>
        </p:nvSpPr>
        <p:spPr>
          <a:xfrm>
            <a:off x="265613" y="1890077"/>
            <a:ext cx="10105606" cy="7664450"/>
          </a:xfrm>
          <a:prstGeom prst="rect">
            <a:avLst/>
          </a:prstGeom>
        </p:spPr>
        <p:txBody>
          <a:bodyPr lIns="0" tIns="0" rIns="0" bIns="0" rtlCol="0" anchor="t">
            <a:spAutoFit/>
          </a:bodyPr>
          <a:lstStyle/>
          <a:p>
            <a:pPr>
              <a:lnSpc>
                <a:spcPts val="6720"/>
              </a:lnSpc>
            </a:pPr>
            <a:r>
              <a:rPr lang="en-US" sz="4800">
                <a:solidFill>
                  <a:srgbClr val="FFFFFF"/>
                </a:solidFill>
                <a:latin typeface="Canva Sans Bold"/>
              </a:rPr>
              <a:t>⮚Alert system is used according to the level.</a:t>
            </a:r>
          </a:p>
          <a:p>
            <a:pPr>
              <a:lnSpc>
                <a:spcPts val="6720"/>
              </a:lnSpc>
            </a:pPr>
            <a:r>
              <a:rPr lang="en-US" sz="4800">
                <a:solidFill>
                  <a:srgbClr val="FFFFFF"/>
                </a:solidFill>
                <a:latin typeface="Canva Sans Bold"/>
              </a:rPr>
              <a:t>⮚Driver can respond to the alert through a responsive touch screen.</a:t>
            </a:r>
          </a:p>
          <a:p>
            <a:pPr>
              <a:lnSpc>
                <a:spcPts val="6720"/>
              </a:lnSpc>
            </a:pPr>
            <a:r>
              <a:rPr lang="en-US" sz="4800">
                <a:solidFill>
                  <a:srgbClr val="FFFFFF"/>
                </a:solidFill>
                <a:latin typeface="Canva Sans Bold"/>
              </a:rPr>
              <a:t>⮚Emergency message with location sent</a:t>
            </a:r>
          </a:p>
          <a:p>
            <a:pPr>
              <a:lnSpc>
                <a:spcPts val="6720"/>
              </a:lnSpc>
            </a:pPr>
            <a:r>
              <a:rPr lang="en-US" sz="4800">
                <a:solidFill>
                  <a:srgbClr val="FFFFFF"/>
                </a:solidFill>
                <a:latin typeface="Canva Sans Bold"/>
              </a:rPr>
              <a:t>⮚Make emergency call</a:t>
            </a:r>
          </a:p>
          <a:p>
            <a:pPr>
              <a:lnSpc>
                <a:spcPts val="7279"/>
              </a:lnSpc>
            </a:pPr>
            <a:endParaRPr lang="en-US" sz="4800">
              <a:solidFill>
                <a:srgbClr val="FFFFFF"/>
              </a:solidFill>
              <a:latin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TextBox 3"/>
          <p:cNvSpPr txBox="1"/>
          <p:nvPr/>
        </p:nvSpPr>
        <p:spPr>
          <a:xfrm>
            <a:off x="96782" y="390577"/>
            <a:ext cx="3332218" cy="887095"/>
          </a:xfrm>
          <a:prstGeom prst="rect">
            <a:avLst/>
          </a:prstGeom>
        </p:spPr>
        <p:txBody>
          <a:bodyPr wrap="square" lIns="0" tIns="0" rIns="0" bIns="0" rtlCol="0" anchor="t">
            <a:spAutoFit/>
          </a:bodyPr>
          <a:lstStyle/>
          <a:p>
            <a:pPr algn="ctr">
              <a:lnSpc>
                <a:spcPts val="7279"/>
              </a:lnSpc>
              <a:spcBef>
                <a:spcPct val="0"/>
              </a:spcBef>
            </a:pPr>
            <a:r>
              <a:rPr lang="en-US" sz="5199" dirty="0">
                <a:solidFill>
                  <a:srgbClr val="FFFFFF"/>
                </a:solidFill>
                <a:latin typeface="Canva Sans Bold"/>
              </a:rPr>
              <a:t>Scenarios</a:t>
            </a:r>
          </a:p>
        </p:txBody>
      </p:sp>
      <p:sp>
        <p:nvSpPr>
          <p:cNvPr id="4" name="Freeform 4"/>
          <p:cNvSpPr/>
          <p:nvPr/>
        </p:nvSpPr>
        <p:spPr>
          <a:xfrm>
            <a:off x="4675997" y="1756707"/>
            <a:ext cx="7143708" cy="7143708"/>
          </a:xfrm>
          <a:custGeom>
            <a:avLst/>
            <a:gdLst/>
            <a:ahLst/>
            <a:cxnLst/>
            <a:rect l="l" t="t" r="r" b="b"/>
            <a:pathLst>
              <a:path w="7143708" h="7143708">
                <a:moveTo>
                  <a:pt x="0" y="0"/>
                </a:moveTo>
                <a:lnTo>
                  <a:pt x="7143708" y="0"/>
                </a:lnTo>
                <a:lnTo>
                  <a:pt x="7143708" y="7143708"/>
                </a:lnTo>
                <a:lnTo>
                  <a:pt x="0" y="7143708"/>
                </a:lnTo>
                <a:lnTo>
                  <a:pt x="0" y="0"/>
                </a:lnTo>
                <a:close/>
              </a:path>
            </a:pathLst>
          </a:custGeom>
          <a:blipFill>
            <a:blip r:embed="rId3"/>
            <a:stretch>
              <a:fillRect/>
            </a:stretch>
          </a:blipFill>
        </p:spPr>
        <p:txBody>
          <a:bodyPr/>
          <a:lstStyle/>
          <a:p>
            <a:endParaRPr lang="en-00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10485943" y="2112251"/>
            <a:ext cx="6572111" cy="6572111"/>
          </a:xfrm>
          <a:custGeom>
            <a:avLst/>
            <a:gdLst/>
            <a:ahLst/>
            <a:cxnLst/>
            <a:rect l="l" t="t" r="r" b="b"/>
            <a:pathLst>
              <a:path w="6572111" h="6572111">
                <a:moveTo>
                  <a:pt x="0" y="0"/>
                </a:moveTo>
                <a:lnTo>
                  <a:pt x="6572111" y="0"/>
                </a:lnTo>
                <a:lnTo>
                  <a:pt x="6572111" y="6572111"/>
                </a:lnTo>
                <a:lnTo>
                  <a:pt x="0" y="6572111"/>
                </a:lnTo>
                <a:lnTo>
                  <a:pt x="0" y="0"/>
                </a:lnTo>
                <a:close/>
              </a:path>
            </a:pathLst>
          </a:custGeom>
          <a:blipFill>
            <a:blip r:embed="rId3"/>
            <a:stretch>
              <a:fillRect/>
            </a:stretch>
          </a:blipFill>
        </p:spPr>
        <p:txBody>
          <a:bodyPr/>
          <a:lstStyle/>
          <a:p>
            <a:endParaRPr lang="en-001"/>
          </a:p>
        </p:txBody>
      </p:sp>
      <p:sp>
        <p:nvSpPr>
          <p:cNvPr id="4" name="Freeform 4"/>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l="-1392" t="-12638" b="-14102"/>
            </a:stretch>
          </a:blipFill>
        </p:spPr>
        <p:txBody>
          <a:bodyPr/>
          <a:lstStyle/>
          <a:p>
            <a:endParaRPr lang="en-001"/>
          </a:p>
        </p:txBody>
      </p:sp>
      <p:sp>
        <p:nvSpPr>
          <p:cNvPr id="5" name="TextBox 5"/>
          <p:cNvSpPr txBox="1"/>
          <p:nvPr/>
        </p:nvSpPr>
        <p:spPr>
          <a:xfrm>
            <a:off x="262814" y="933450"/>
            <a:ext cx="3318585" cy="887095"/>
          </a:xfrm>
          <a:prstGeom prst="rect">
            <a:avLst/>
          </a:prstGeom>
        </p:spPr>
        <p:txBody>
          <a:bodyPr wrap="square" lIns="0" tIns="0" rIns="0" bIns="0" rtlCol="0" anchor="t">
            <a:spAutoFit/>
          </a:bodyPr>
          <a:lstStyle/>
          <a:p>
            <a:pPr algn="ctr">
              <a:lnSpc>
                <a:spcPts val="7279"/>
              </a:lnSpc>
              <a:spcBef>
                <a:spcPct val="0"/>
              </a:spcBef>
            </a:pPr>
            <a:r>
              <a:rPr lang="en-US" sz="5199" dirty="0">
                <a:solidFill>
                  <a:srgbClr val="FFFFFF"/>
                </a:solidFill>
                <a:latin typeface="Canva Sans Bold"/>
              </a:rPr>
              <a:t>Scenarios</a:t>
            </a:r>
          </a:p>
        </p:txBody>
      </p:sp>
      <p:sp>
        <p:nvSpPr>
          <p:cNvPr id="6" name="TextBox 6"/>
          <p:cNvSpPr txBox="1"/>
          <p:nvPr/>
        </p:nvSpPr>
        <p:spPr>
          <a:xfrm>
            <a:off x="262815" y="3750017"/>
            <a:ext cx="6749600" cy="5506720"/>
          </a:xfrm>
          <a:prstGeom prst="rect">
            <a:avLst/>
          </a:prstGeom>
        </p:spPr>
        <p:txBody>
          <a:bodyPr lIns="0" tIns="0" rIns="0" bIns="0" rtlCol="0" anchor="t">
            <a:spAutoFit/>
          </a:bodyPr>
          <a:lstStyle/>
          <a:p>
            <a:pPr marL="1122679" lvl="1" indent="-561340">
              <a:lnSpc>
                <a:spcPts val="7279"/>
              </a:lnSpc>
              <a:buFont typeface="Arial"/>
              <a:buChar char="•"/>
            </a:pPr>
            <a:r>
              <a:rPr lang="en-US" sz="5199">
                <a:solidFill>
                  <a:srgbClr val="FFFFFF"/>
                </a:solidFill>
                <a:latin typeface="Canva Sans Bold"/>
              </a:rPr>
              <a:t>No Risk</a:t>
            </a:r>
          </a:p>
          <a:p>
            <a:pPr>
              <a:lnSpc>
                <a:spcPts val="7279"/>
              </a:lnSpc>
            </a:pPr>
            <a:endParaRPr lang="en-US" sz="5199">
              <a:solidFill>
                <a:srgbClr val="FFFFFF"/>
              </a:solidFill>
              <a:latin typeface="Canva Sans Bold"/>
            </a:endParaRPr>
          </a:p>
          <a:p>
            <a:pPr marL="1122679" lvl="1" indent="-561340">
              <a:lnSpc>
                <a:spcPts val="7279"/>
              </a:lnSpc>
              <a:buFont typeface="Arial"/>
              <a:buChar char="•"/>
            </a:pPr>
            <a:r>
              <a:rPr lang="en-US" sz="5199">
                <a:solidFill>
                  <a:srgbClr val="FFFFFF"/>
                </a:solidFill>
                <a:latin typeface="Canva Sans Bold"/>
              </a:rPr>
              <a:t>Low Risk Level</a:t>
            </a:r>
          </a:p>
          <a:p>
            <a:pPr>
              <a:lnSpc>
                <a:spcPts val="7279"/>
              </a:lnSpc>
            </a:pPr>
            <a:endParaRPr lang="en-US" sz="5199">
              <a:solidFill>
                <a:srgbClr val="FFFFFF"/>
              </a:solidFill>
              <a:latin typeface="Canva Sans Bold"/>
            </a:endParaRPr>
          </a:p>
          <a:p>
            <a:pPr marL="1122679" lvl="1" indent="-561340">
              <a:lnSpc>
                <a:spcPts val="7279"/>
              </a:lnSpc>
              <a:buFont typeface="Arial"/>
              <a:buChar char="•"/>
            </a:pPr>
            <a:r>
              <a:rPr lang="en-US" sz="5199">
                <a:solidFill>
                  <a:srgbClr val="FFFFFF"/>
                </a:solidFill>
                <a:latin typeface="Canva Sans Bold"/>
              </a:rPr>
              <a:t>High Risk Level</a:t>
            </a:r>
          </a:p>
          <a:p>
            <a:pPr>
              <a:lnSpc>
                <a:spcPts val="7279"/>
              </a:lnSpc>
            </a:pPr>
            <a:endParaRPr lang="en-US" sz="5199">
              <a:solidFill>
                <a:srgbClr val="FFFFFF"/>
              </a:solidFill>
              <a:latin typeface="Canva Sans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11359716" y="1747972"/>
            <a:ext cx="6140078" cy="6288629"/>
          </a:xfrm>
          <a:custGeom>
            <a:avLst/>
            <a:gdLst/>
            <a:ahLst/>
            <a:cxnLst/>
            <a:rect l="l" t="t" r="r" b="b"/>
            <a:pathLst>
              <a:path w="6140078" h="6288629">
                <a:moveTo>
                  <a:pt x="0" y="0"/>
                </a:moveTo>
                <a:lnTo>
                  <a:pt x="6140078" y="0"/>
                </a:lnTo>
                <a:lnTo>
                  <a:pt x="6140078" y="6288628"/>
                </a:lnTo>
                <a:lnTo>
                  <a:pt x="0" y="6288628"/>
                </a:lnTo>
                <a:lnTo>
                  <a:pt x="0" y="0"/>
                </a:lnTo>
                <a:close/>
              </a:path>
            </a:pathLst>
          </a:custGeom>
          <a:blipFill>
            <a:blip r:embed="rId3"/>
            <a:stretch>
              <a:fillRect/>
            </a:stretch>
          </a:blipFill>
        </p:spPr>
        <p:txBody>
          <a:bodyPr/>
          <a:lstStyle/>
          <a:p>
            <a:endParaRPr lang="en-001"/>
          </a:p>
        </p:txBody>
      </p:sp>
      <p:sp>
        <p:nvSpPr>
          <p:cNvPr id="4" name="Freeform 4"/>
          <p:cNvSpPr/>
          <p:nvPr/>
        </p:nvSpPr>
        <p:spPr>
          <a:xfrm>
            <a:off x="0" y="10973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l="-1392" t="-12638" b="-14102"/>
            </a:stretch>
          </a:blipFill>
        </p:spPr>
        <p:txBody>
          <a:bodyPr/>
          <a:lstStyle/>
          <a:p>
            <a:endParaRPr lang="en-001"/>
          </a:p>
        </p:txBody>
      </p:sp>
      <p:sp>
        <p:nvSpPr>
          <p:cNvPr id="5" name="TextBox 5"/>
          <p:cNvSpPr txBox="1"/>
          <p:nvPr/>
        </p:nvSpPr>
        <p:spPr>
          <a:xfrm>
            <a:off x="260732" y="198659"/>
            <a:ext cx="6721192" cy="887095"/>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Canva Sans Bold"/>
              </a:rPr>
              <a:t>Scenarios : Low Risk</a:t>
            </a:r>
          </a:p>
        </p:txBody>
      </p:sp>
      <p:sp>
        <p:nvSpPr>
          <p:cNvPr id="6" name="TextBox 6"/>
          <p:cNvSpPr txBox="1"/>
          <p:nvPr/>
        </p:nvSpPr>
        <p:spPr>
          <a:xfrm>
            <a:off x="523547" y="3015226"/>
            <a:ext cx="10162823" cy="3658870"/>
          </a:xfrm>
          <a:prstGeom prst="rect">
            <a:avLst/>
          </a:prstGeom>
        </p:spPr>
        <p:txBody>
          <a:bodyPr lIns="0" tIns="0" rIns="0" bIns="0" rtlCol="0" anchor="t">
            <a:spAutoFit/>
          </a:bodyPr>
          <a:lstStyle/>
          <a:p>
            <a:pPr>
              <a:lnSpc>
                <a:spcPts val="7279"/>
              </a:lnSpc>
            </a:pPr>
            <a:r>
              <a:rPr lang="en-US" sz="5199">
                <a:solidFill>
                  <a:srgbClr val="FFFFFF"/>
                </a:solidFill>
                <a:latin typeface="Canva Sans Bold"/>
              </a:rPr>
              <a:t>⮚Gentle alarm for 5 seconds</a:t>
            </a:r>
          </a:p>
          <a:p>
            <a:pPr>
              <a:lnSpc>
                <a:spcPts val="7279"/>
              </a:lnSpc>
            </a:pPr>
            <a:endParaRPr lang="en-US" sz="5199">
              <a:solidFill>
                <a:srgbClr val="FFFFFF"/>
              </a:solidFill>
              <a:latin typeface="Canva Sans Bold"/>
            </a:endParaRPr>
          </a:p>
          <a:p>
            <a:pPr>
              <a:lnSpc>
                <a:spcPts val="7279"/>
              </a:lnSpc>
            </a:pPr>
            <a:r>
              <a:rPr lang="en-US" sz="5199">
                <a:solidFill>
                  <a:srgbClr val="FFFFFF"/>
                </a:solidFill>
                <a:latin typeface="Canva Sans Bold"/>
              </a:rPr>
              <a:t>⮚Show a message on screen</a:t>
            </a:r>
          </a:p>
          <a:p>
            <a:pPr>
              <a:lnSpc>
                <a:spcPts val="7279"/>
              </a:lnSpc>
            </a:pPr>
            <a:endParaRPr lang="en-US" sz="5199">
              <a:solidFill>
                <a:srgbClr val="FFFFFF"/>
              </a:solidFill>
              <a:latin typeface="Canva Sans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11359716" y="1747972"/>
            <a:ext cx="6140078" cy="6288629"/>
          </a:xfrm>
          <a:custGeom>
            <a:avLst/>
            <a:gdLst/>
            <a:ahLst/>
            <a:cxnLst/>
            <a:rect l="l" t="t" r="r" b="b"/>
            <a:pathLst>
              <a:path w="6140078" h="6288629">
                <a:moveTo>
                  <a:pt x="0" y="0"/>
                </a:moveTo>
                <a:lnTo>
                  <a:pt x="6140078" y="0"/>
                </a:lnTo>
                <a:lnTo>
                  <a:pt x="6140078" y="6288628"/>
                </a:lnTo>
                <a:lnTo>
                  <a:pt x="0" y="6288628"/>
                </a:lnTo>
                <a:lnTo>
                  <a:pt x="0" y="0"/>
                </a:lnTo>
                <a:close/>
              </a:path>
            </a:pathLst>
          </a:custGeom>
          <a:blipFill>
            <a:blip r:embed="rId3"/>
            <a:stretch>
              <a:fillRect/>
            </a:stretch>
          </a:blipFill>
        </p:spPr>
        <p:txBody>
          <a:bodyPr/>
          <a:lstStyle/>
          <a:p>
            <a:endParaRPr lang="en-001"/>
          </a:p>
        </p:txBody>
      </p:sp>
      <p:sp>
        <p:nvSpPr>
          <p:cNvPr id="4" name="Freeform 4"/>
          <p:cNvSpPr/>
          <p:nvPr/>
        </p:nvSpPr>
        <p:spPr>
          <a:xfrm>
            <a:off x="11155452" y="1749800"/>
            <a:ext cx="6818845" cy="6974652"/>
          </a:xfrm>
          <a:custGeom>
            <a:avLst/>
            <a:gdLst/>
            <a:ahLst/>
            <a:cxnLst/>
            <a:rect l="l" t="t" r="r" b="b"/>
            <a:pathLst>
              <a:path w="6818845" h="6974652">
                <a:moveTo>
                  <a:pt x="0" y="0"/>
                </a:moveTo>
                <a:lnTo>
                  <a:pt x="6818845" y="0"/>
                </a:lnTo>
                <a:lnTo>
                  <a:pt x="6818845" y="6974653"/>
                </a:lnTo>
                <a:lnTo>
                  <a:pt x="0" y="6974653"/>
                </a:lnTo>
                <a:lnTo>
                  <a:pt x="0" y="0"/>
                </a:lnTo>
                <a:close/>
              </a:path>
            </a:pathLst>
          </a:custGeom>
          <a:blipFill>
            <a:blip r:embed="rId4"/>
            <a:stretch>
              <a:fillRect/>
            </a:stretch>
          </a:blipFill>
        </p:spPr>
        <p:txBody>
          <a:bodyPr/>
          <a:lstStyle/>
          <a:p>
            <a:endParaRPr lang="en-001"/>
          </a:p>
        </p:txBody>
      </p:sp>
      <p:sp>
        <p:nvSpPr>
          <p:cNvPr id="5" name="Freeform 5"/>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l="-1392" t="-12638" b="-14102"/>
            </a:stretch>
          </a:blipFill>
        </p:spPr>
        <p:txBody>
          <a:bodyPr/>
          <a:lstStyle/>
          <a:p>
            <a:endParaRPr lang="en-001"/>
          </a:p>
        </p:txBody>
      </p:sp>
      <p:sp>
        <p:nvSpPr>
          <p:cNvPr id="6" name="Freeform 6"/>
          <p:cNvSpPr/>
          <p:nvPr/>
        </p:nvSpPr>
        <p:spPr>
          <a:xfrm>
            <a:off x="260732" y="6209288"/>
            <a:ext cx="8883268" cy="1451994"/>
          </a:xfrm>
          <a:custGeom>
            <a:avLst/>
            <a:gdLst/>
            <a:ahLst/>
            <a:cxnLst/>
            <a:rect l="l" t="t" r="r" b="b"/>
            <a:pathLst>
              <a:path w="8883268" h="1451994">
                <a:moveTo>
                  <a:pt x="0" y="0"/>
                </a:moveTo>
                <a:lnTo>
                  <a:pt x="8883268" y="0"/>
                </a:lnTo>
                <a:lnTo>
                  <a:pt x="8883268" y="1451994"/>
                </a:lnTo>
                <a:lnTo>
                  <a:pt x="0" y="14519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001"/>
          </a:p>
        </p:txBody>
      </p:sp>
      <p:sp>
        <p:nvSpPr>
          <p:cNvPr id="7" name="Freeform 7"/>
          <p:cNvSpPr/>
          <p:nvPr/>
        </p:nvSpPr>
        <p:spPr>
          <a:xfrm>
            <a:off x="699537" y="6358366"/>
            <a:ext cx="1153839" cy="1153839"/>
          </a:xfrm>
          <a:custGeom>
            <a:avLst/>
            <a:gdLst/>
            <a:ahLst/>
            <a:cxnLst/>
            <a:rect l="l" t="t" r="r" b="b"/>
            <a:pathLst>
              <a:path w="1153839" h="1153839">
                <a:moveTo>
                  <a:pt x="0" y="0"/>
                </a:moveTo>
                <a:lnTo>
                  <a:pt x="1153839" y="0"/>
                </a:lnTo>
                <a:lnTo>
                  <a:pt x="1153839" y="1153839"/>
                </a:lnTo>
                <a:lnTo>
                  <a:pt x="0" y="1153839"/>
                </a:lnTo>
                <a:lnTo>
                  <a:pt x="0" y="0"/>
                </a:lnTo>
                <a:close/>
              </a:path>
            </a:pathLst>
          </a:custGeom>
          <a:blipFill>
            <a:blip r:embed="rId8"/>
            <a:stretch>
              <a:fillRect/>
            </a:stretch>
          </a:blipFill>
        </p:spPr>
        <p:txBody>
          <a:bodyPr/>
          <a:lstStyle/>
          <a:p>
            <a:endParaRPr lang="en-001"/>
          </a:p>
        </p:txBody>
      </p:sp>
      <p:sp>
        <p:nvSpPr>
          <p:cNvPr id="8" name="Freeform 8"/>
          <p:cNvSpPr/>
          <p:nvPr/>
        </p:nvSpPr>
        <p:spPr>
          <a:xfrm>
            <a:off x="417005" y="7998455"/>
            <a:ext cx="8883268" cy="1451994"/>
          </a:xfrm>
          <a:custGeom>
            <a:avLst/>
            <a:gdLst/>
            <a:ahLst/>
            <a:cxnLst/>
            <a:rect l="l" t="t" r="r" b="b"/>
            <a:pathLst>
              <a:path w="8883268" h="1451994">
                <a:moveTo>
                  <a:pt x="0" y="0"/>
                </a:moveTo>
                <a:lnTo>
                  <a:pt x="8883268" y="0"/>
                </a:lnTo>
                <a:lnTo>
                  <a:pt x="8883268" y="1451995"/>
                </a:lnTo>
                <a:lnTo>
                  <a:pt x="0" y="14519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001"/>
          </a:p>
        </p:txBody>
      </p:sp>
      <p:sp>
        <p:nvSpPr>
          <p:cNvPr id="9" name="Freeform 9"/>
          <p:cNvSpPr/>
          <p:nvPr/>
        </p:nvSpPr>
        <p:spPr>
          <a:xfrm>
            <a:off x="903256" y="8298865"/>
            <a:ext cx="950120" cy="959435"/>
          </a:xfrm>
          <a:custGeom>
            <a:avLst/>
            <a:gdLst/>
            <a:ahLst/>
            <a:cxnLst/>
            <a:rect l="l" t="t" r="r" b="b"/>
            <a:pathLst>
              <a:path w="950120" h="959435">
                <a:moveTo>
                  <a:pt x="0" y="0"/>
                </a:moveTo>
                <a:lnTo>
                  <a:pt x="950120" y="0"/>
                </a:lnTo>
                <a:lnTo>
                  <a:pt x="950120" y="959435"/>
                </a:lnTo>
                <a:lnTo>
                  <a:pt x="0" y="959435"/>
                </a:lnTo>
                <a:lnTo>
                  <a:pt x="0" y="0"/>
                </a:lnTo>
                <a:close/>
              </a:path>
            </a:pathLst>
          </a:custGeom>
          <a:blipFill>
            <a:blip r:embed="rId9"/>
            <a:stretch>
              <a:fillRect/>
            </a:stretch>
          </a:blipFill>
        </p:spPr>
        <p:txBody>
          <a:bodyPr/>
          <a:lstStyle/>
          <a:p>
            <a:endParaRPr lang="en-001"/>
          </a:p>
        </p:txBody>
      </p:sp>
      <p:sp>
        <p:nvSpPr>
          <p:cNvPr id="10" name="TextBox 10"/>
          <p:cNvSpPr txBox="1"/>
          <p:nvPr/>
        </p:nvSpPr>
        <p:spPr>
          <a:xfrm>
            <a:off x="260732" y="198659"/>
            <a:ext cx="6721192" cy="887095"/>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Canva Sans Bold"/>
              </a:rPr>
              <a:t>Scenarios : High Risk</a:t>
            </a:r>
          </a:p>
        </p:txBody>
      </p:sp>
      <p:sp>
        <p:nvSpPr>
          <p:cNvPr id="11" name="TextBox 11"/>
          <p:cNvSpPr txBox="1"/>
          <p:nvPr/>
        </p:nvSpPr>
        <p:spPr>
          <a:xfrm>
            <a:off x="260732" y="2114514"/>
            <a:ext cx="9195813" cy="4688432"/>
          </a:xfrm>
          <a:prstGeom prst="rect">
            <a:avLst/>
          </a:prstGeom>
        </p:spPr>
        <p:txBody>
          <a:bodyPr lIns="0" tIns="0" rIns="0" bIns="0" rtlCol="0" anchor="t">
            <a:spAutoFit/>
          </a:bodyPr>
          <a:lstStyle/>
          <a:p>
            <a:pPr>
              <a:lnSpc>
                <a:spcPts val="6207"/>
              </a:lnSpc>
            </a:pPr>
            <a:r>
              <a:rPr lang="en-US" sz="4433">
                <a:solidFill>
                  <a:srgbClr val="FFFFFF"/>
                </a:solidFill>
                <a:latin typeface="Canva Sans Bold"/>
              </a:rPr>
              <a:t>⮚Alarm on</a:t>
            </a:r>
          </a:p>
          <a:p>
            <a:pPr>
              <a:lnSpc>
                <a:spcPts val="6207"/>
              </a:lnSpc>
            </a:pPr>
            <a:r>
              <a:rPr lang="en-US" sz="4433">
                <a:solidFill>
                  <a:srgbClr val="FFFFFF"/>
                </a:solidFill>
                <a:latin typeface="Canva Sans Bold"/>
              </a:rPr>
              <a:t>⮚Show a message on screen</a:t>
            </a:r>
          </a:p>
          <a:p>
            <a:pPr>
              <a:lnSpc>
                <a:spcPts val="6207"/>
              </a:lnSpc>
            </a:pPr>
            <a:r>
              <a:rPr lang="en-US" sz="4433">
                <a:solidFill>
                  <a:srgbClr val="FFFFFF"/>
                </a:solidFill>
                <a:latin typeface="Canva Sans Bold"/>
              </a:rPr>
              <a:t>⮚Response in 10 seconds </a:t>
            </a:r>
          </a:p>
          <a:p>
            <a:pPr>
              <a:lnSpc>
                <a:spcPts val="6207"/>
              </a:lnSpc>
            </a:pPr>
            <a:r>
              <a:rPr lang="en-US" sz="4433">
                <a:solidFill>
                  <a:srgbClr val="FFFFFF"/>
                </a:solidFill>
                <a:latin typeface="Canva Sans Bold"/>
              </a:rPr>
              <a:t>⮚Driver can make emergency call</a:t>
            </a:r>
          </a:p>
          <a:p>
            <a:pPr>
              <a:lnSpc>
                <a:spcPts val="6207"/>
              </a:lnSpc>
            </a:pPr>
            <a:endParaRPr lang="en-US" sz="4433">
              <a:solidFill>
                <a:srgbClr val="FFFFFF"/>
              </a:solidFill>
              <a:latin typeface="Canva Sans Bold"/>
            </a:endParaRPr>
          </a:p>
        </p:txBody>
      </p:sp>
      <p:sp>
        <p:nvSpPr>
          <p:cNvPr id="12" name="TextBox 12"/>
          <p:cNvSpPr txBox="1"/>
          <p:nvPr/>
        </p:nvSpPr>
        <p:spPr>
          <a:xfrm>
            <a:off x="2016953" y="6589580"/>
            <a:ext cx="3506636" cy="576506"/>
          </a:xfrm>
          <a:prstGeom prst="rect">
            <a:avLst/>
          </a:prstGeom>
        </p:spPr>
        <p:txBody>
          <a:bodyPr lIns="0" tIns="0" rIns="0" bIns="0" rtlCol="0" anchor="t">
            <a:spAutoFit/>
          </a:bodyPr>
          <a:lstStyle/>
          <a:p>
            <a:pPr algn="ctr">
              <a:lnSpc>
                <a:spcPts val="4687"/>
              </a:lnSpc>
              <a:spcBef>
                <a:spcPct val="0"/>
              </a:spcBef>
            </a:pPr>
            <a:r>
              <a:rPr lang="en-US" sz="3348">
                <a:solidFill>
                  <a:srgbClr val="FFFFFF"/>
                </a:solidFill>
                <a:latin typeface="Canva Sans Bold"/>
              </a:rPr>
              <a:t>If no response </a:t>
            </a:r>
          </a:p>
        </p:txBody>
      </p:sp>
      <p:sp>
        <p:nvSpPr>
          <p:cNvPr id="13" name="TextBox 13"/>
          <p:cNvSpPr txBox="1"/>
          <p:nvPr/>
        </p:nvSpPr>
        <p:spPr>
          <a:xfrm>
            <a:off x="5523589" y="6375874"/>
            <a:ext cx="3028985" cy="1071199"/>
          </a:xfrm>
          <a:prstGeom prst="rect">
            <a:avLst/>
          </a:prstGeom>
        </p:spPr>
        <p:txBody>
          <a:bodyPr lIns="0" tIns="0" rIns="0" bIns="0" rtlCol="0" anchor="t">
            <a:spAutoFit/>
          </a:bodyPr>
          <a:lstStyle/>
          <a:p>
            <a:pPr algn="ctr">
              <a:lnSpc>
                <a:spcPts val="2822"/>
              </a:lnSpc>
              <a:spcBef>
                <a:spcPct val="0"/>
              </a:spcBef>
            </a:pPr>
            <a:r>
              <a:rPr lang="en-US" sz="2016">
                <a:solidFill>
                  <a:srgbClr val="FFFFFF"/>
                </a:solidFill>
                <a:latin typeface="Canva Sans Bold"/>
              </a:rPr>
              <a:t>Waiting lights on</a:t>
            </a:r>
          </a:p>
          <a:p>
            <a:pPr algn="ctr">
              <a:lnSpc>
                <a:spcPts val="2822"/>
              </a:lnSpc>
              <a:spcBef>
                <a:spcPct val="0"/>
              </a:spcBef>
            </a:pPr>
            <a:r>
              <a:rPr lang="en-US" sz="2016">
                <a:solidFill>
                  <a:srgbClr val="FFFFFF"/>
                </a:solidFill>
                <a:latin typeface="Canva Sans Bold"/>
              </a:rPr>
              <a:t>Very high alarm (buzzer)</a:t>
            </a:r>
          </a:p>
          <a:p>
            <a:pPr algn="ctr">
              <a:lnSpc>
                <a:spcPts val="2822"/>
              </a:lnSpc>
              <a:spcBef>
                <a:spcPct val="0"/>
              </a:spcBef>
            </a:pPr>
            <a:r>
              <a:rPr lang="en-US" sz="2016">
                <a:solidFill>
                  <a:srgbClr val="FFFFFF"/>
                </a:solidFill>
                <a:latin typeface="Canva Sans Bold"/>
              </a:rPr>
              <a:t>Send SOS message</a:t>
            </a:r>
          </a:p>
        </p:txBody>
      </p:sp>
      <p:sp>
        <p:nvSpPr>
          <p:cNvPr id="14" name="TextBox 14"/>
          <p:cNvSpPr txBox="1"/>
          <p:nvPr/>
        </p:nvSpPr>
        <p:spPr>
          <a:xfrm>
            <a:off x="2190133" y="8410925"/>
            <a:ext cx="3101236" cy="560381"/>
          </a:xfrm>
          <a:prstGeom prst="rect">
            <a:avLst/>
          </a:prstGeom>
        </p:spPr>
        <p:txBody>
          <a:bodyPr wrap="square" lIns="0" tIns="0" rIns="0" bIns="0" rtlCol="0" anchor="t">
            <a:spAutoFit/>
          </a:bodyPr>
          <a:lstStyle/>
          <a:p>
            <a:pPr algn="ctr">
              <a:lnSpc>
                <a:spcPts val="4538"/>
              </a:lnSpc>
              <a:spcBef>
                <a:spcPct val="0"/>
              </a:spcBef>
            </a:pPr>
            <a:r>
              <a:rPr lang="en-US" sz="3242" dirty="0">
                <a:solidFill>
                  <a:srgbClr val="FFFFFF"/>
                </a:solidFill>
                <a:latin typeface="Canva Sans Bold"/>
              </a:rPr>
              <a:t>If he responds</a:t>
            </a:r>
          </a:p>
        </p:txBody>
      </p:sp>
      <p:sp>
        <p:nvSpPr>
          <p:cNvPr id="15" name="TextBox 15"/>
          <p:cNvSpPr txBox="1"/>
          <p:nvPr/>
        </p:nvSpPr>
        <p:spPr>
          <a:xfrm>
            <a:off x="5605072" y="8260765"/>
            <a:ext cx="2866020" cy="844466"/>
          </a:xfrm>
          <a:prstGeom prst="rect">
            <a:avLst/>
          </a:prstGeom>
        </p:spPr>
        <p:txBody>
          <a:bodyPr lIns="0" tIns="0" rIns="0" bIns="0" rtlCol="0" anchor="t">
            <a:spAutoFit/>
          </a:bodyPr>
          <a:lstStyle/>
          <a:p>
            <a:pPr algn="ctr">
              <a:lnSpc>
                <a:spcPts val="3421"/>
              </a:lnSpc>
              <a:spcBef>
                <a:spcPct val="0"/>
              </a:spcBef>
            </a:pPr>
            <a:r>
              <a:rPr lang="en-US" sz="2443">
                <a:solidFill>
                  <a:srgbClr val="FFFFFF"/>
                </a:solidFill>
                <a:latin typeface="Canva Sans Bold"/>
              </a:rPr>
              <a:t>Buzzer stops </a:t>
            </a:r>
          </a:p>
          <a:p>
            <a:pPr algn="ctr">
              <a:lnSpc>
                <a:spcPts val="3421"/>
              </a:lnSpc>
              <a:spcBef>
                <a:spcPct val="0"/>
              </a:spcBef>
            </a:pPr>
            <a:r>
              <a:rPr lang="en-US" sz="2443">
                <a:solidFill>
                  <a:srgbClr val="FFFFFF"/>
                </a:solidFill>
                <a:latin typeface="Canva Sans Bold"/>
              </a:rPr>
              <a:t>Driver take control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5996772" y="3129765"/>
            <a:ext cx="6128535" cy="6128535"/>
          </a:xfrm>
          <a:custGeom>
            <a:avLst/>
            <a:gdLst/>
            <a:ahLst/>
            <a:cxnLst/>
            <a:rect l="l" t="t" r="r" b="b"/>
            <a:pathLst>
              <a:path w="6128535" h="6128535">
                <a:moveTo>
                  <a:pt x="0" y="0"/>
                </a:moveTo>
                <a:lnTo>
                  <a:pt x="6128535" y="0"/>
                </a:lnTo>
                <a:lnTo>
                  <a:pt x="6128535" y="6128535"/>
                </a:lnTo>
                <a:lnTo>
                  <a:pt x="0" y="6128535"/>
                </a:lnTo>
                <a:lnTo>
                  <a:pt x="0" y="0"/>
                </a:lnTo>
                <a:close/>
              </a:path>
            </a:pathLst>
          </a:custGeom>
          <a:blipFill>
            <a:blip r:embed="rId3"/>
            <a:stretch>
              <a:fillRect/>
            </a:stretch>
          </a:blipFill>
        </p:spPr>
        <p:txBody>
          <a:bodyPr/>
          <a:lstStyle/>
          <a:p>
            <a:endParaRPr lang="en-001"/>
          </a:p>
        </p:txBody>
      </p:sp>
      <p:sp>
        <p:nvSpPr>
          <p:cNvPr id="4" name="TextBox 4"/>
          <p:cNvSpPr txBox="1"/>
          <p:nvPr/>
        </p:nvSpPr>
        <p:spPr>
          <a:xfrm>
            <a:off x="1028700" y="1096887"/>
            <a:ext cx="4317206" cy="887095"/>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Canva Sans Bold"/>
              </a:rPr>
              <a:t>methodology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1028700" y="2704825"/>
            <a:ext cx="4604767" cy="4604767"/>
          </a:xfrm>
          <a:custGeom>
            <a:avLst/>
            <a:gdLst/>
            <a:ahLst/>
            <a:cxnLst/>
            <a:rect l="l" t="t" r="r" b="b"/>
            <a:pathLst>
              <a:path w="4604767" h="4604767">
                <a:moveTo>
                  <a:pt x="0" y="0"/>
                </a:moveTo>
                <a:lnTo>
                  <a:pt x="4604767" y="0"/>
                </a:lnTo>
                <a:lnTo>
                  <a:pt x="4604767" y="4604767"/>
                </a:lnTo>
                <a:lnTo>
                  <a:pt x="0" y="4604767"/>
                </a:lnTo>
                <a:lnTo>
                  <a:pt x="0" y="0"/>
                </a:lnTo>
                <a:close/>
              </a:path>
            </a:pathLst>
          </a:custGeom>
          <a:blipFill>
            <a:blip r:embed="rId3"/>
            <a:stretch>
              <a:fillRect/>
            </a:stretch>
          </a:blipFill>
        </p:spPr>
        <p:txBody>
          <a:bodyPr/>
          <a:lstStyle/>
          <a:p>
            <a:endParaRPr lang="en-001"/>
          </a:p>
        </p:txBody>
      </p:sp>
      <p:sp>
        <p:nvSpPr>
          <p:cNvPr id="4" name="Freeform 4"/>
          <p:cNvSpPr/>
          <p:nvPr/>
        </p:nvSpPr>
        <p:spPr>
          <a:xfrm>
            <a:off x="10675566" y="2704825"/>
            <a:ext cx="4391441" cy="4391441"/>
          </a:xfrm>
          <a:custGeom>
            <a:avLst/>
            <a:gdLst/>
            <a:ahLst/>
            <a:cxnLst/>
            <a:rect l="l" t="t" r="r" b="b"/>
            <a:pathLst>
              <a:path w="4391441" h="4391441">
                <a:moveTo>
                  <a:pt x="0" y="0"/>
                </a:moveTo>
                <a:lnTo>
                  <a:pt x="4391441" y="0"/>
                </a:lnTo>
                <a:lnTo>
                  <a:pt x="4391441" y="4391440"/>
                </a:lnTo>
                <a:lnTo>
                  <a:pt x="0" y="4391440"/>
                </a:lnTo>
                <a:lnTo>
                  <a:pt x="0" y="0"/>
                </a:lnTo>
                <a:close/>
              </a:path>
            </a:pathLst>
          </a:custGeom>
          <a:blipFill>
            <a:blip r:embed="rId4"/>
            <a:stretch>
              <a:fillRect/>
            </a:stretch>
          </a:blipFill>
        </p:spPr>
        <p:txBody>
          <a:bodyPr/>
          <a:lstStyle/>
          <a:p>
            <a:endParaRPr lang="en-001"/>
          </a:p>
        </p:txBody>
      </p:sp>
      <p:sp>
        <p:nvSpPr>
          <p:cNvPr id="5" name="TextBox 5"/>
          <p:cNvSpPr txBox="1"/>
          <p:nvPr/>
        </p:nvSpPr>
        <p:spPr>
          <a:xfrm>
            <a:off x="1028700" y="1096887"/>
            <a:ext cx="4317206" cy="887095"/>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Canva Sans Bold"/>
              </a:rPr>
              <a:t>methodology</a:t>
            </a:r>
          </a:p>
        </p:txBody>
      </p:sp>
      <p:sp>
        <p:nvSpPr>
          <p:cNvPr id="6" name="TextBox 6"/>
          <p:cNvSpPr txBox="1"/>
          <p:nvPr/>
        </p:nvSpPr>
        <p:spPr>
          <a:xfrm>
            <a:off x="691932" y="7638897"/>
            <a:ext cx="6419731"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ea typeface="Canva Sans Bold"/>
              </a:rPr>
              <a:t>P﻿roposed Hardware</a:t>
            </a:r>
          </a:p>
        </p:txBody>
      </p:sp>
      <p:sp>
        <p:nvSpPr>
          <p:cNvPr id="7" name="TextBox 7"/>
          <p:cNvSpPr txBox="1"/>
          <p:nvPr/>
        </p:nvSpPr>
        <p:spPr>
          <a:xfrm>
            <a:off x="8892620" y="7638897"/>
            <a:ext cx="7139583"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Solution Architecture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7111663" y="3921225"/>
            <a:ext cx="4604767" cy="4604767"/>
          </a:xfrm>
          <a:custGeom>
            <a:avLst/>
            <a:gdLst/>
            <a:ahLst/>
            <a:cxnLst/>
            <a:rect l="l" t="t" r="r" b="b"/>
            <a:pathLst>
              <a:path w="4604767" h="4604767">
                <a:moveTo>
                  <a:pt x="0" y="0"/>
                </a:moveTo>
                <a:lnTo>
                  <a:pt x="4604767" y="0"/>
                </a:lnTo>
                <a:lnTo>
                  <a:pt x="4604767" y="4604767"/>
                </a:lnTo>
                <a:lnTo>
                  <a:pt x="0" y="4604767"/>
                </a:lnTo>
                <a:lnTo>
                  <a:pt x="0" y="0"/>
                </a:lnTo>
                <a:close/>
              </a:path>
            </a:pathLst>
          </a:custGeom>
          <a:blipFill>
            <a:blip r:embed="rId3"/>
            <a:stretch>
              <a:fillRect/>
            </a:stretch>
          </a:blipFill>
        </p:spPr>
        <p:txBody>
          <a:bodyPr/>
          <a:lstStyle/>
          <a:p>
            <a:endParaRPr lang="en-001"/>
          </a:p>
        </p:txBody>
      </p:sp>
      <p:sp>
        <p:nvSpPr>
          <p:cNvPr id="4" name="TextBox 4"/>
          <p:cNvSpPr txBox="1"/>
          <p:nvPr/>
        </p:nvSpPr>
        <p:spPr>
          <a:xfrm>
            <a:off x="1284505" y="1452431"/>
            <a:ext cx="6419731"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ea typeface="Canva Sans Bold"/>
              </a:rPr>
              <a:t>P﻿roposed Hardware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6803525" y="2542658"/>
            <a:ext cx="1654386" cy="971176"/>
          </a:xfrm>
          <a:custGeom>
            <a:avLst/>
            <a:gdLst/>
            <a:ahLst/>
            <a:cxnLst/>
            <a:rect l="l" t="t" r="r" b="b"/>
            <a:pathLst>
              <a:path w="1654386" h="971176">
                <a:moveTo>
                  <a:pt x="0" y="0"/>
                </a:moveTo>
                <a:lnTo>
                  <a:pt x="1654386" y="0"/>
                </a:lnTo>
                <a:lnTo>
                  <a:pt x="1654386" y="971176"/>
                </a:lnTo>
                <a:lnTo>
                  <a:pt x="0" y="971176"/>
                </a:lnTo>
                <a:lnTo>
                  <a:pt x="0" y="0"/>
                </a:lnTo>
                <a:close/>
              </a:path>
            </a:pathLst>
          </a:custGeom>
          <a:blipFill>
            <a:blip r:embed="rId3"/>
            <a:stretch>
              <a:fillRect/>
            </a:stretch>
          </a:blipFill>
        </p:spPr>
        <p:txBody>
          <a:bodyPr/>
          <a:lstStyle/>
          <a:p>
            <a:endParaRPr lang="en-001"/>
          </a:p>
        </p:txBody>
      </p:sp>
      <p:graphicFrame>
        <p:nvGraphicFramePr>
          <p:cNvPr id="4" name="Table 4"/>
          <p:cNvGraphicFramePr>
            <a:graphicFrameLocks noGrp="1"/>
          </p:cNvGraphicFramePr>
          <p:nvPr/>
        </p:nvGraphicFramePr>
        <p:xfrm>
          <a:off x="231595" y="1424623"/>
          <a:ext cx="17467827" cy="8694063"/>
        </p:xfrm>
        <a:graphic>
          <a:graphicData uri="http://schemas.openxmlformats.org/drawingml/2006/table">
            <a:tbl>
              <a:tblPr/>
              <a:tblGrid>
                <a:gridCol w="8522288">
                  <a:extLst>
                    <a:ext uri="{9D8B030D-6E8A-4147-A177-3AD203B41FA5}">
                      <a16:colId xmlns:a16="http://schemas.microsoft.com/office/drawing/2014/main" val="20000"/>
                    </a:ext>
                  </a:extLst>
                </a:gridCol>
                <a:gridCol w="8945539">
                  <a:extLst>
                    <a:ext uri="{9D8B030D-6E8A-4147-A177-3AD203B41FA5}">
                      <a16:colId xmlns:a16="http://schemas.microsoft.com/office/drawing/2014/main" val="20001"/>
                    </a:ext>
                  </a:extLst>
                </a:gridCol>
              </a:tblGrid>
              <a:tr h="2597223">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2139743">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957097">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65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5" name="Group 5"/>
          <p:cNvGrpSpPr/>
          <p:nvPr/>
        </p:nvGrpSpPr>
        <p:grpSpPr>
          <a:xfrm>
            <a:off x="6803525" y="4291472"/>
            <a:ext cx="1504760" cy="1156914"/>
            <a:chOff x="0" y="0"/>
            <a:chExt cx="2006346" cy="1542551"/>
          </a:xfrm>
        </p:grpSpPr>
        <p:sp>
          <p:nvSpPr>
            <p:cNvPr id="6" name="TextBox 6"/>
            <p:cNvSpPr txBox="1"/>
            <p:nvPr/>
          </p:nvSpPr>
          <p:spPr>
            <a:xfrm>
              <a:off x="0" y="-19050"/>
              <a:ext cx="2006346" cy="196500"/>
            </a:xfrm>
            <a:prstGeom prst="rect">
              <a:avLst/>
            </a:prstGeom>
          </p:spPr>
          <p:txBody>
            <a:bodyPr lIns="0" tIns="0" rIns="0" bIns="0" rtlCol="0" anchor="t">
              <a:spAutoFit/>
            </a:bodyPr>
            <a:lstStyle/>
            <a:p>
              <a:pPr algn="ctr">
                <a:lnSpc>
                  <a:spcPts val="1229"/>
                </a:lnSpc>
              </a:pPr>
              <a:r>
                <a:rPr lang="en-US" sz="878">
                  <a:solidFill>
                    <a:srgbClr val="000000"/>
                  </a:solidFill>
                  <a:latin typeface="Canva Sans Bold"/>
                </a:rPr>
                <a:t>Raspberry pi Camera</a:t>
              </a:r>
            </a:p>
          </p:txBody>
        </p:sp>
        <p:sp>
          <p:nvSpPr>
            <p:cNvPr id="7" name="Freeform 7"/>
            <p:cNvSpPr/>
            <p:nvPr/>
          </p:nvSpPr>
          <p:spPr>
            <a:xfrm>
              <a:off x="256202" y="214641"/>
              <a:ext cx="1522993" cy="1327911"/>
            </a:xfrm>
            <a:custGeom>
              <a:avLst/>
              <a:gdLst/>
              <a:ahLst/>
              <a:cxnLst/>
              <a:rect l="l" t="t" r="r" b="b"/>
              <a:pathLst>
                <a:path w="1522993" h="1327911">
                  <a:moveTo>
                    <a:pt x="0" y="0"/>
                  </a:moveTo>
                  <a:lnTo>
                    <a:pt x="1522993" y="0"/>
                  </a:lnTo>
                  <a:lnTo>
                    <a:pt x="1522993" y="1327910"/>
                  </a:lnTo>
                  <a:lnTo>
                    <a:pt x="0" y="1327910"/>
                  </a:lnTo>
                  <a:lnTo>
                    <a:pt x="0" y="0"/>
                  </a:lnTo>
                  <a:close/>
                </a:path>
              </a:pathLst>
            </a:custGeom>
            <a:blipFill>
              <a:blip r:embed="rId4"/>
              <a:stretch>
                <a:fillRect t="-8275" b="-6415"/>
              </a:stretch>
            </a:blipFill>
          </p:spPr>
          <p:txBody>
            <a:bodyPr/>
            <a:lstStyle/>
            <a:p>
              <a:endParaRPr lang="en-001"/>
            </a:p>
          </p:txBody>
        </p:sp>
      </p:grpSp>
      <p:sp>
        <p:nvSpPr>
          <p:cNvPr id="8" name="TextBox 8"/>
          <p:cNvSpPr txBox="1"/>
          <p:nvPr/>
        </p:nvSpPr>
        <p:spPr>
          <a:xfrm>
            <a:off x="15360511" y="1995668"/>
            <a:ext cx="1819182" cy="170422"/>
          </a:xfrm>
          <a:prstGeom prst="rect">
            <a:avLst/>
          </a:prstGeom>
        </p:spPr>
        <p:txBody>
          <a:bodyPr lIns="0" tIns="0" rIns="0" bIns="0" rtlCol="0" anchor="t">
            <a:spAutoFit/>
          </a:bodyPr>
          <a:lstStyle/>
          <a:p>
            <a:pPr algn="ctr">
              <a:lnSpc>
                <a:spcPts val="1486"/>
              </a:lnSpc>
            </a:pPr>
            <a:endParaRPr/>
          </a:p>
        </p:txBody>
      </p:sp>
      <p:sp>
        <p:nvSpPr>
          <p:cNvPr id="9" name="Freeform 9"/>
          <p:cNvSpPr/>
          <p:nvPr/>
        </p:nvSpPr>
        <p:spPr>
          <a:xfrm>
            <a:off x="6063119" y="6220646"/>
            <a:ext cx="2394792" cy="2394792"/>
          </a:xfrm>
          <a:custGeom>
            <a:avLst/>
            <a:gdLst/>
            <a:ahLst/>
            <a:cxnLst/>
            <a:rect l="l" t="t" r="r" b="b"/>
            <a:pathLst>
              <a:path w="2394792" h="2394792">
                <a:moveTo>
                  <a:pt x="0" y="0"/>
                </a:moveTo>
                <a:lnTo>
                  <a:pt x="2394792" y="0"/>
                </a:lnTo>
                <a:lnTo>
                  <a:pt x="2394792" y="2394791"/>
                </a:lnTo>
                <a:lnTo>
                  <a:pt x="0" y="2394791"/>
                </a:lnTo>
                <a:lnTo>
                  <a:pt x="0" y="0"/>
                </a:lnTo>
                <a:close/>
              </a:path>
            </a:pathLst>
          </a:custGeom>
          <a:blipFill>
            <a:blip r:embed="rId5"/>
            <a:stretch>
              <a:fillRect/>
            </a:stretch>
          </a:blipFill>
        </p:spPr>
        <p:txBody>
          <a:bodyPr/>
          <a:lstStyle/>
          <a:p>
            <a:endParaRPr lang="en-001"/>
          </a:p>
        </p:txBody>
      </p:sp>
      <p:sp>
        <p:nvSpPr>
          <p:cNvPr id="10" name="Freeform 10"/>
          <p:cNvSpPr/>
          <p:nvPr/>
        </p:nvSpPr>
        <p:spPr>
          <a:xfrm>
            <a:off x="15503837" y="2005193"/>
            <a:ext cx="1675857" cy="1675857"/>
          </a:xfrm>
          <a:custGeom>
            <a:avLst/>
            <a:gdLst/>
            <a:ahLst/>
            <a:cxnLst/>
            <a:rect l="l" t="t" r="r" b="b"/>
            <a:pathLst>
              <a:path w="1675857" h="1675857">
                <a:moveTo>
                  <a:pt x="0" y="0"/>
                </a:moveTo>
                <a:lnTo>
                  <a:pt x="1675856" y="0"/>
                </a:lnTo>
                <a:lnTo>
                  <a:pt x="1675856" y="1675856"/>
                </a:lnTo>
                <a:lnTo>
                  <a:pt x="0" y="1675856"/>
                </a:lnTo>
                <a:lnTo>
                  <a:pt x="0" y="0"/>
                </a:lnTo>
                <a:close/>
              </a:path>
            </a:pathLst>
          </a:custGeom>
          <a:blipFill>
            <a:blip r:embed="rId6"/>
            <a:stretch>
              <a:fillRect/>
            </a:stretch>
          </a:blipFill>
        </p:spPr>
        <p:txBody>
          <a:bodyPr/>
          <a:lstStyle/>
          <a:p>
            <a:endParaRPr lang="en-001"/>
          </a:p>
        </p:txBody>
      </p:sp>
      <p:sp>
        <p:nvSpPr>
          <p:cNvPr id="11" name="Freeform 11"/>
          <p:cNvSpPr/>
          <p:nvPr/>
        </p:nvSpPr>
        <p:spPr>
          <a:xfrm>
            <a:off x="13806929" y="6396908"/>
            <a:ext cx="3393814" cy="3393814"/>
          </a:xfrm>
          <a:custGeom>
            <a:avLst/>
            <a:gdLst/>
            <a:ahLst/>
            <a:cxnLst/>
            <a:rect l="l" t="t" r="r" b="b"/>
            <a:pathLst>
              <a:path w="3393814" h="3393814">
                <a:moveTo>
                  <a:pt x="0" y="0"/>
                </a:moveTo>
                <a:lnTo>
                  <a:pt x="3393815" y="0"/>
                </a:lnTo>
                <a:lnTo>
                  <a:pt x="3393815" y="3393814"/>
                </a:lnTo>
                <a:lnTo>
                  <a:pt x="0" y="3393814"/>
                </a:lnTo>
                <a:lnTo>
                  <a:pt x="0" y="0"/>
                </a:lnTo>
                <a:close/>
              </a:path>
            </a:pathLst>
          </a:custGeom>
          <a:blipFill>
            <a:blip r:embed="rId7"/>
            <a:stretch>
              <a:fillRect/>
            </a:stretch>
          </a:blipFill>
        </p:spPr>
        <p:txBody>
          <a:bodyPr/>
          <a:lstStyle/>
          <a:p>
            <a:endParaRPr lang="en-001"/>
          </a:p>
        </p:txBody>
      </p:sp>
      <p:sp>
        <p:nvSpPr>
          <p:cNvPr id="12" name="Freeform 12"/>
          <p:cNvSpPr/>
          <p:nvPr/>
        </p:nvSpPr>
        <p:spPr>
          <a:xfrm>
            <a:off x="14913712" y="4291472"/>
            <a:ext cx="2013747" cy="1793757"/>
          </a:xfrm>
          <a:custGeom>
            <a:avLst/>
            <a:gdLst/>
            <a:ahLst/>
            <a:cxnLst/>
            <a:rect l="l" t="t" r="r" b="b"/>
            <a:pathLst>
              <a:path w="2013747" h="1793757">
                <a:moveTo>
                  <a:pt x="0" y="0"/>
                </a:moveTo>
                <a:lnTo>
                  <a:pt x="2013747" y="0"/>
                </a:lnTo>
                <a:lnTo>
                  <a:pt x="2013747" y="1793758"/>
                </a:lnTo>
                <a:lnTo>
                  <a:pt x="0" y="1793758"/>
                </a:lnTo>
                <a:lnTo>
                  <a:pt x="0" y="0"/>
                </a:lnTo>
                <a:close/>
              </a:path>
            </a:pathLst>
          </a:custGeom>
          <a:blipFill>
            <a:blip r:embed="rId8"/>
            <a:stretch>
              <a:fillRect/>
            </a:stretch>
          </a:blipFill>
        </p:spPr>
        <p:txBody>
          <a:bodyPr/>
          <a:lstStyle/>
          <a:p>
            <a:endParaRPr lang="en-001"/>
          </a:p>
        </p:txBody>
      </p:sp>
      <p:sp>
        <p:nvSpPr>
          <p:cNvPr id="13" name="TextBox 13"/>
          <p:cNvSpPr txBox="1"/>
          <p:nvPr/>
        </p:nvSpPr>
        <p:spPr>
          <a:xfrm>
            <a:off x="383794" y="537527"/>
            <a:ext cx="6419731"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ea typeface="Canva Sans Bold"/>
              </a:rPr>
              <a:t>P﻿roposed Hardware</a:t>
            </a:r>
          </a:p>
        </p:txBody>
      </p:sp>
      <p:sp>
        <p:nvSpPr>
          <p:cNvPr id="14" name="TextBox 14"/>
          <p:cNvSpPr txBox="1"/>
          <p:nvPr/>
        </p:nvSpPr>
        <p:spPr>
          <a:xfrm>
            <a:off x="1028700" y="2514083"/>
            <a:ext cx="5034419" cy="847357"/>
          </a:xfrm>
          <a:prstGeom prst="rect">
            <a:avLst/>
          </a:prstGeom>
        </p:spPr>
        <p:txBody>
          <a:bodyPr lIns="0" tIns="0" rIns="0" bIns="0" rtlCol="0" anchor="t">
            <a:spAutoFit/>
          </a:bodyPr>
          <a:lstStyle/>
          <a:p>
            <a:pPr algn="ctr">
              <a:lnSpc>
                <a:spcPts val="2258"/>
              </a:lnSpc>
              <a:spcBef>
                <a:spcPct val="0"/>
              </a:spcBef>
            </a:pPr>
            <a:r>
              <a:rPr lang="en-US" sz="1612">
                <a:solidFill>
                  <a:srgbClr val="FFFFFF"/>
                </a:solidFill>
                <a:latin typeface="Canva Sans Bold"/>
              </a:rPr>
              <a:t>A System-on-a-Chip (SoC) board: is the core of the hardware components since every hardware component is connected to it</a:t>
            </a:r>
          </a:p>
        </p:txBody>
      </p:sp>
      <p:sp>
        <p:nvSpPr>
          <p:cNvPr id="15" name="TextBox 15"/>
          <p:cNvSpPr txBox="1"/>
          <p:nvPr/>
        </p:nvSpPr>
        <p:spPr>
          <a:xfrm>
            <a:off x="556616" y="4227430"/>
            <a:ext cx="6246908" cy="1544224"/>
          </a:xfrm>
          <a:prstGeom prst="rect">
            <a:avLst/>
          </a:prstGeom>
        </p:spPr>
        <p:txBody>
          <a:bodyPr lIns="0" tIns="0" rIns="0" bIns="0" rtlCol="0" anchor="t">
            <a:spAutoFit/>
          </a:bodyPr>
          <a:lstStyle/>
          <a:p>
            <a:pPr>
              <a:lnSpc>
                <a:spcPts val="3085"/>
              </a:lnSpc>
            </a:pPr>
            <a:r>
              <a:rPr lang="en-US" sz="2203">
                <a:solidFill>
                  <a:srgbClr val="FFFFFF"/>
                </a:solidFill>
                <a:latin typeface="Canva Sans"/>
              </a:rPr>
              <a:t>Camera: the camera used for detecting the frames of the driver and send it to the board to make the processing . ex:Raspberry pi Camera</a:t>
            </a:r>
          </a:p>
        </p:txBody>
      </p:sp>
      <p:sp>
        <p:nvSpPr>
          <p:cNvPr id="16" name="TextBox 16"/>
          <p:cNvSpPr txBox="1"/>
          <p:nvPr/>
        </p:nvSpPr>
        <p:spPr>
          <a:xfrm>
            <a:off x="9200861" y="2495033"/>
            <a:ext cx="6006837" cy="820105"/>
          </a:xfrm>
          <a:prstGeom prst="rect">
            <a:avLst/>
          </a:prstGeom>
        </p:spPr>
        <p:txBody>
          <a:bodyPr lIns="0" tIns="0" rIns="0" bIns="0" rtlCol="0" anchor="t">
            <a:spAutoFit/>
          </a:bodyPr>
          <a:lstStyle/>
          <a:p>
            <a:pPr algn="ctr">
              <a:lnSpc>
                <a:spcPts val="3301"/>
              </a:lnSpc>
            </a:pPr>
            <a:r>
              <a:rPr lang="en-US" sz="2358">
                <a:solidFill>
                  <a:srgbClr val="FFFFFF"/>
                </a:solidFill>
                <a:latin typeface="Canva Sans"/>
              </a:rPr>
              <a:t>Screen: To communicate with the driver behind the wheels </a:t>
            </a:r>
          </a:p>
        </p:txBody>
      </p:sp>
      <p:sp>
        <p:nvSpPr>
          <p:cNvPr id="17" name="TextBox 17"/>
          <p:cNvSpPr txBox="1"/>
          <p:nvPr/>
        </p:nvSpPr>
        <p:spPr>
          <a:xfrm>
            <a:off x="383794" y="6349283"/>
            <a:ext cx="5185203" cy="1589559"/>
          </a:xfrm>
          <a:prstGeom prst="rect">
            <a:avLst/>
          </a:prstGeom>
        </p:spPr>
        <p:txBody>
          <a:bodyPr lIns="0" tIns="0" rIns="0" bIns="0" rtlCol="0" anchor="t">
            <a:spAutoFit/>
          </a:bodyPr>
          <a:lstStyle/>
          <a:p>
            <a:pPr marL="495262" lvl="1" indent="-247631">
              <a:lnSpc>
                <a:spcPts val="3211"/>
              </a:lnSpc>
              <a:buFont typeface="Arial"/>
              <a:buChar char="•"/>
            </a:pPr>
            <a:r>
              <a:rPr lang="en-US" sz="2293">
                <a:solidFill>
                  <a:srgbClr val="FCFCFB"/>
                </a:solidFill>
                <a:latin typeface="Canva Sans Bold"/>
              </a:rPr>
              <a:t>BUZZER:</a:t>
            </a:r>
            <a:r>
              <a:rPr lang="en-US" sz="2293">
                <a:solidFill>
                  <a:srgbClr val="FCFCFB"/>
                </a:solidFill>
                <a:latin typeface="Canva Sans"/>
              </a:rPr>
              <a:t> The driver is alerted in another way other than a message on the screen, which is a sound played on the speakers</a:t>
            </a:r>
          </a:p>
        </p:txBody>
      </p:sp>
      <p:sp>
        <p:nvSpPr>
          <p:cNvPr id="18" name="TextBox 18"/>
          <p:cNvSpPr txBox="1"/>
          <p:nvPr/>
        </p:nvSpPr>
        <p:spPr>
          <a:xfrm>
            <a:off x="231595" y="3225368"/>
            <a:ext cx="2979094" cy="752528"/>
          </a:xfrm>
          <a:prstGeom prst="rect">
            <a:avLst/>
          </a:prstGeom>
        </p:spPr>
        <p:txBody>
          <a:bodyPr lIns="0" tIns="0" rIns="0" bIns="0" rtlCol="0" anchor="t">
            <a:spAutoFit/>
          </a:bodyPr>
          <a:lstStyle/>
          <a:p>
            <a:pPr marL="242434" lvl="1" indent="-121217">
              <a:lnSpc>
                <a:spcPts val="1572"/>
              </a:lnSpc>
              <a:buFont typeface="Arial"/>
              <a:buChar char="•"/>
            </a:pPr>
            <a:r>
              <a:rPr lang="en-US" sz="1122">
                <a:solidFill>
                  <a:srgbClr val="000000"/>
                </a:solidFill>
                <a:latin typeface="Canva Sans Bold"/>
              </a:rPr>
              <a:t>Speakers:</a:t>
            </a:r>
            <a:r>
              <a:rPr lang="en-US" sz="1122">
                <a:solidFill>
                  <a:srgbClr val="000000"/>
                </a:solidFill>
                <a:latin typeface="Canva Sans"/>
              </a:rPr>
              <a:t> The driver is alerted in another way other than a message on the screen, which is a sound played on the speakers</a:t>
            </a:r>
          </a:p>
        </p:txBody>
      </p:sp>
      <p:sp>
        <p:nvSpPr>
          <p:cNvPr id="19" name="TextBox 19"/>
          <p:cNvSpPr txBox="1"/>
          <p:nvPr/>
        </p:nvSpPr>
        <p:spPr>
          <a:xfrm>
            <a:off x="8679497" y="6254666"/>
            <a:ext cx="5127432" cy="3896590"/>
          </a:xfrm>
          <a:prstGeom prst="rect">
            <a:avLst/>
          </a:prstGeom>
        </p:spPr>
        <p:txBody>
          <a:bodyPr lIns="0" tIns="0" rIns="0" bIns="0" rtlCol="0" anchor="t">
            <a:spAutoFit/>
          </a:bodyPr>
          <a:lstStyle/>
          <a:p>
            <a:pPr algn="ctr">
              <a:lnSpc>
                <a:spcPts val="3102"/>
              </a:lnSpc>
            </a:pPr>
            <a:r>
              <a:rPr lang="en-US" sz="2215">
                <a:solidFill>
                  <a:srgbClr val="FFFFFF"/>
                </a:solidFill>
                <a:latin typeface="Canva Sans"/>
              </a:rPr>
              <a:t> SIM 808 GPS/GSM Module: Since the driver could be already not responding to the alert messages on the screen, a fast action is needed to be taken. To minimize the damage and to prevent the loss of innocent lives, an SOS signal is sent to the emergency operator through the modem. The driver can make an emergency call.</a:t>
            </a:r>
          </a:p>
        </p:txBody>
      </p:sp>
      <p:sp>
        <p:nvSpPr>
          <p:cNvPr id="20" name="TextBox 20"/>
          <p:cNvSpPr txBox="1"/>
          <p:nvPr/>
        </p:nvSpPr>
        <p:spPr>
          <a:xfrm>
            <a:off x="8965508" y="4134485"/>
            <a:ext cx="5404613" cy="1842134"/>
          </a:xfrm>
          <a:prstGeom prst="rect">
            <a:avLst/>
          </a:prstGeom>
        </p:spPr>
        <p:txBody>
          <a:bodyPr lIns="0" tIns="0" rIns="0" bIns="0" rtlCol="0" anchor="t">
            <a:spAutoFit/>
          </a:bodyPr>
          <a:lstStyle/>
          <a:p>
            <a:pPr algn="ctr">
              <a:lnSpc>
                <a:spcPts val="2940"/>
              </a:lnSpc>
            </a:pPr>
            <a:r>
              <a:rPr lang="en-US" sz="2100">
                <a:solidFill>
                  <a:srgbClr val="FFFFFF"/>
                </a:solidFill>
                <a:latin typeface="Canva Sans"/>
              </a:rPr>
              <a:t>USB to TTL Module: he USB to TTL Module is a converter that is used to convert the serial ports into a single USB 2.0 type-A in order to be used by computers that do not have serial ports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TextBox 3"/>
          <p:cNvSpPr txBox="1"/>
          <p:nvPr/>
        </p:nvSpPr>
        <p:spPr>
          <a:xfrm>
            <a:off x="924579" y="1452431"/>
            <a:ext cx="7139583" cy="887095"/>
          </a:xfrm>
          <a:prstGeom prst="rect">
            <a:avLst/>
          </a:prstGeom>
        </p:spPr>
        <p:txBody>
          <a:bodyPr lIns="0" tIns="0" rIns="0" bIns="0" rtlCol="0" anchor="t">
            <a:spAutoFit/>
          </a:bodyPr>
          <a:lstStyle/>
          <a:p>
            <a:pPr algn="ctr">
              <a:lnSpc>
                <a:spcPts val="7279"/>
              </a:lnSpc>
            </a:pPr>
            <a:r>
              <a:rPr lang="en-US" sz="5199">
                <a:solidFill>
                  <a:srgbClr val="FFFFFF"/>
                </a:solidFill>
                <a:latin typeface="Canva Sans Bold"/>
              </a:rPr>
              <a:t>Solution Architecture </a:t>
            </a:r>
          </a:p>
        </p:txBody>
      </p:sp>
      <p:sp>
        <p:nvSpPr>
          <p:cNvPr id="4" name="Freeform 4"/>
          <p:cNvSpPr/>
          <p:nvPr/>
        </p:nvSpPr>
        <p:spPr>
          <a:xfrm>
            <a:off x="6295095" y="3279621"/>
            <a:ext cx="5244746" cy="5244746"/>
          </a:xfrm>
          <a:custGeom>
            <a:avLst/>
            <a:gdLst/>
            <a:ahLst/>
            <a:cxnLst/>
            <a:rect l="l" t="t" r="r" b="b"/>
            <a:pathLst>
              <a:path w="5244746" h="5244746">
                <a:moveTo>
                  <a:pt x="0" y="0"/>
                </a:moveTo>
                <a:lnTo>
                  <a:pt x="5244746" y="0"/>
                </a:lnTo>
                <a:lnTo>
                  <a:pt x="5244746" y="5244746"/>
                </a:lnTo>
                <a:lnTo>
                  <a:pt x="0" y="5244746"/>
                </a:lnTo>
                <a:lnTo>
                  <a:pt x="0" y="0"/>
                </a:lnTo>
                <a:close/>
              </a:path>
            </a:pathLst>
          </a:custGeom>
          <a:blipFill>
            <a:blip r:embed="rId3"/>
            <a:stretch>
              <a:fillRect/>
            </a:stretch>
          </a:blipFill>
        </p:spPr>
        <p:txBody>
          <a:bodyPr/>
          <a:lstStyle/>
          <a:p>
            <a:endParaRPr lang="en-00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AutoShape 3"/>
          <p:cNvSpPr/>
          <p:nvPr/>
        </p:nvSpPr>
        <p:spPr>
          <a:xfrm>
            <a:off x="160739" y="1481604"/>
            <a:ext cx="6492240" cy="0"/>
          </a:xfrm>
          <a:prstGeom prst="line">
            <a:avLst/>
          </a:prstGeom>
          <a:ln w="38100" cap="flat">
            <a:solidFill>
              <a:srgbClr val="FFFFFF"/>
            </a:solidFill>
            <a:prstDash val="solid"/>
            <a:headEnd type="none" w="sm" len="sm"/>
            <a:tailEnd type="none" w="sm" len="sm"/>
          </a:ln>
        </p:spPr>
        <p:txBody>
          <a:bodyPr/>
          <a:lstStyle/>
          <a:p>
            <a:endParaRPr lang="en-001"/>
          </a:p>
        </p:txBody>
      </p:sp>
      <p:sp>
        <p:nvSpPr>
          <p:cNvPr id="4" name="Freeform 4"/>
          <p:cNvSpPr/>
          <p:nvPr/>
        </p:nvSpPr>
        <p:spPr>
          <a:xfrm>
            <a:off x="7007062" y="4784282"/>
            <a:ext cx="3373165" cy="1686582"/>
          </a:xfrm>
          <a:custGeom>
            <a:avLst/>
            <a:gdLst/>
            <a:ahLst/>
            <a:cxnLst/>
            <a:rect l="l" t="t" r="r" b="b"/>
            <a:pathLst>
              <a:path w="3373165" h="1686582">
                <a:moveTo>
                  <a:pt x="0" y="0"/>
                </a:moveTo>
                <a:lnTo>
                  <a:pt x="3373165" y="0"/>
                </a:lnTo>
                <a:lnTo>
                  <a:pt x="3373165" y="1686582"/>
                </a:lnTo>
                <a:lnTo>
                  <a:pt x="0" y="16865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001"/>
          </a:p>
        </p:txBody>
      </p:sp>
      <p:sp>
        <p:nvSpPr>
          <p:cNvPr id="5" name="TextBox 5"/>
          <p:cNvSpPr txBox="1"/>
          <p:nvPr/>
        </p:nvSpPr>
        <p:spPr>
          <a:xfrm>
            <a:off x="7007062" y="4992676"/>
            <a:ext cx="3373165" cy="1203119"/>
          </a:xfrm>
          <a:prstGeom prst="rect">
            <a:avLst/>
          </a:prstGeom>
        </p:spPr>
        <p:txBody>
          <a:bodyPr lIns="0" tIns="0" rIns="0" bIns="0" rtlCol="0" anchor="t">
            <a:spAutoFit/>
          </a:bodyPr>
          <a:lstStyle/>
          <a:p>
            <a:pPr algn="ctr">
              <a:lnSpc>
                <a:spcPts val="4821"/>
              </a:lnSpc>
            </a:pPr>
            <a:r>
              <a:rPr lang="en-US" sz="3444">
                <a:solidFill>
                  <a:srgbClr val="FFFFFF"/>
                </a:solidFill>
                <a:latin typeface="Canva Sans Bold"/>
              </a:rPr>
              <a:t>Raspberry pi 4 Model B</a:t>
            </a:r>
          </a:p>
        </p:txBody>
      </p:sp>
      <p:grpSp>
        <p:nvGrpSpPr>
          <p:cNvPr id="6" name="Group 6"/>
          <p:cNvGrpSpPr/>
          <p:nvPr/>
        </p:nvGrpSpPr>
        <p:grpSpPr>
          <a:xfrm>
            <a:off x="617451" y="4699653"/>
            <a:ext cx="3373165" cy="1686582"/>
            <a:chOff x="0" y="0"/>
            <a:chExt cx="4497553" cy="2248777"/>
          </a:xfrm>
        </p:grpSpPr>
        <p:sp>
          <p:nvSpPr>
            <p:cNvPr id="7" name="Freeform 7"/>
            <p:cNvSpPr/>
            <p:nvPr/>
          </p:nvSpPr>
          <p:spPr>
            <a:xfrm>
              <a:off x="0" y="0"/>
              <a:ext cx="4497553" cy="2248777"/>
            </a:xfrm>
            <a:custGeom>
              <a:avLst/>
              <a:gdLst/>
              <a:ahLst/>
              <a:cxnLst/>
              <a:rect l="l" t="t" r="r" b="b"/>
              <a:pathLst>
                <a:path w="4497553" h="2248777">
                  <a:moveTo>
                    <a:pt x="0" y="0"/>
                  </a:moveTo>
                  <a:lnTo>
                    <a:pt x="4497553" y="0"/>
                  </a:lnTo>
                  <a:lnTo>
                    <a:pt x="4497553" y="2248777"/>
                  </a:lnTo>
                  <a:lnTo>
                    <a:pt x="0" y="224877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001"/>
            </a:p>
          </p:txBody>
        </p:sp>
        <p:sp>
          <p:nvSpPr>
            <p:cNvPr id="8" name="TextBox 8"/>
            <p:cNvSpPr txBox="1"/>
            <p:nvPr/>
          </p:nvSpPr>
          <p:spPr>
            <a:xfrm>
              <a:off x="0" y="412923"/>
              <a:ext cx="4497553" cy="1575630"/>
            </a:xfrm>
            <a:prstGeom prst="rect">
              <a:avLst/>
            </a:prstGeom>
          </p:spPr>
          <p:txBody>
            <a:bodyPr lIns="0" tIns="0" rIns="0" bIns="0" rtlCol="0" anchor="t">
              <a:spAutoFit/>
            </a:bodyPr>
            <a:lstStyle/>
            <a:p>
              <a:pPr algn="ctr">
                <a:lnSpc>
                  <a:spcPts val="4821"/>
                </a:lnSpc>
              </a:pPr>
              <a:r>
                <a:rPr lang="en-US" sz="3444">
                  <a:solidFill>
                    <a:srgbClr val="004AAD"/>
                  </a:solidFill>
                  <a:latin typeface="Canva Sans Bold"/>
                </a:rPr>
                <a:t>Raspberry pi Camera</a:t>
              </a:r>
            </a:p>
          </p:txBody>
        </p:sp>
      </p:grpSp>
      <p:sp>
        <p:nvSpPr>
          <p:cNvPr id="9" name="AutoShape 9"/>
          <p:cNvSpPr/>
          <p:nvPr/>
        </p:nvSpPr>
        <p:spPr>
          <a:xfrm>
            <a:off x="3990616" y="5625210"/>
            <a:ext cx="2662363" cy="2364"/>
          </a:xfrm>
          <a:prstGeom prst="line">
            <a:avLst/>
          </a:prstGeom>
          <a:ln w="38100" cap="flat">
            <a:solidFill>
              <a:srgbClr val="FFFFFF"/>
            </a:solidFill>
            <a:prstDash val="solid"/>
            <a:headEnd type="none" w="sm" len="sm"/>
            <a:tailEnd type="triangle" w="lg" len="med"/>
          </a:ln>
        </p:spPr>
        <p:txBody>
          <a:bodyPr/>
          <a:lstStyle/>
          <a:p>
            <a:endParaRPr lang="en-001"/>
          </a:p>
        </p:txBody>
      </p:sp>
      <p:grpSp>
        <p:nvGrpSpPr>
          <p:cNvPr id="10" name="Group 10"/>
          <p:cNvGrpSpPr/>
          <p:nvPr/>
        </p:nvGrpSpPr>
        <p:grpSpPr>
          <a:xfrm>
            <a:off x="13401082" y="4926791"/>
            <a:ext cx="3859648" cy="1232307"/>
            <a:chOff x="0" y="0"/>
            <a:chExt cx="5146198" cy="1643076"/>
          </a:xfrm>
        </p:grpSpPr>
        <p:sp>
          <p:nvSpPr>
            <p:cNvPr id="11" name="Freeform 11"/>
            <p:cNvSpPr/>
            <p:nvPr/>
          </p:nvSpPr>
          <p:spPr>
            <a:xfrm>
              <a:off x="0" y="0"/>
              <a:ext cx="5146198" cy="1643076"/>
            </a:xfrm>
            <a:custGeom>
              <a:avLst/>
              <a:gdLst/>
              <a:ahLst/>
              <a:cxnLst/>
              <a:rect l="l" t="t" r="r" b="b"/>
              <a:pathLst>
                <a:path w="5146198" h="1643076">
                  <a:moveTo>
                    <a:pt x="0" y="0"/>
                  </a:moveTo>
                  <a:lnTo>
                    <a:pt x="5146198" y="0"/>
                  </a:lnTo>
                  <a:lnTo>
                    <a:pt x="5146198" y="1643076"/>
                  </a:lnTo>
                  <a:lnTo>
                    <a:pt x="0" y="1643076"/>
                  </a:lnTo>
                  <a:lnTo>
                    <a:pt x="0" y="0"/>
                  </a:lnTo>
                  <a:close/>
                </a:path>
              </a:pathLst>
            </a:custGeom>
            <a:blipFill>
              <a:blip r:embed="rId5">
                <a:extLst>
                  <a:ext uri="{96DAC541-7B7A-43D3-8B79-37D633B846F1}">
                    <asvg:svgBlip xmlns:asvg="http://schemas.microsoft.com/office/drawing/2016/SVG/main" r:embed="rId6"/>
                  </a:ext>
                </a:extLst>
              </a:blip>
              <a:stretch>
                <a:fillRect t="-28301" b="-28301"/>
              </a:stretch>
            </a:blipFill>
          </p:spPr>
          <p:txBody>
            <a:bodyPr/>
            <a:lstStyle/>
            <a:p>
              <a:endParaRPr lang="en-001"/>
            </a:p>
          </p:txBody>
        </p:sp>
        <p:sp>
          <p:nvSpPr>
            <p:cNvPr id="12" name="TextBox 12"/>
            <p:cNvSpPr txBox="1"/>
            <p:nvPr/>
          </p:nvSpPr>
          <p:spPr>
            <a:xfrm>
              <a:off x="0" y="472567"/>
              <a:ext cx="5146198" cy="872756"/>
            </a:xfrm>
            <a:prstGeom prst="rect">
              <a:avLst/>
            </a:prstGeom>
          </p:spPr>
          <p:txBody>
            <a:bodyPr lIns="0" tIns="0" rIns="0" bIns="0" rtlCol="0" anchor="t">
              <a:spAutoFit/>
            </a:bodyPr>
            <a:lstStyle/>
            <a:p>
              <a:pPr algn="ctr">
                <a:lnSpc>
                  <a:spcPts val="5517"/>
                </a:lnSpc>
              </a:pPr>
              <a:r>
                <a:rPr lang="en-US" sz="3940">
                  <a:solidFill>
                    <a:srgbClr val="004AAD"/>
                  </a:solidFill>
                  <a:latin typeface="Canva Sans Bold"/>
                </a:rPr>
                <a:t>Touch Screen</a:t>
              </a:r>
            </a:p>
          </p:txBody>
        </p:sp>
      </p:grpSp>
      <p:sp>
        <p:nvSpPr>
          <p:cNvPr id="13" name="AutoShape 13"/>
          <p:cNvSpPr/>
          <p:nvPr/>
        </p:nvSpPr>
        <p:spPr>
          <a:xfrm flipV="1">
            <a:off x="10380244" y="5542944"/>
            <a:ext cx="3020838" cy="83448"/>
          </a:xfrm>
          <a:prstGeom prst="line">
            <a:avLst/>
          </a:prstGeom>
          <a:ln w="38100" cap="flat">
            <a:solidFill>
              <a:srgbClr val="FFFFFF"/>
            </a:solidFill>
            <a:prstDash val="solid"/>
            <a:headEnd type="none" w="sm" len="sm"/>
            <a:tailEnd type="triangle" w="lg" len="med"/>
          </a:ln>
        </p:spPr>
        <p:txBody>
          <a:bodyPr/>
          <a:lstStyle/>
          <a:p>
            <a:endParaRPr lang="en-001"/>
          </a:p>
        </p:txBody>
      </p:sp>
      <p:grpSp>
        <p:nvGrpSpPr>
          <p:cNvPr id="14" name="Group 14"/>
          <p:cNvGrpSpPr/>
          <p:nvPr/>
        </p:nvGrpSpPr>
        <p:grpSpPr>
          <a:xfrm>
            <a:off x="13399652" y="7554478"/>
            <a:ext cx="3859648" cy="1232307"/>
            <a:chOff x="0" y="0"/>
            <a:chExt cx="5146198" cy="1643076"/>
          </a:xfrm>
        </p:grpSpPr>
        <p:sp>
          <p:nvSpPr>
            <p:cNvPr id="15" name="Freeform 15"/>
            <p:cNvSpPr/>
            <p:nvPr/>
          </p:nvSpPr>
          <p:spPr>
            <a:xfrm>
              <a:off x="0" y="0"/>
              <a:ext cx="5146198" cy="1643076"/>
            </a:xfrm>
            <a:custGeom>
              <a:avLst/>
              <a:gdLst/>
              <a:ahLst/>
              <a:cxnLst/>
              <a:rect l="l" t="t" r="r" b="b"/>
              <a:pathLst>
                <a:path w="5146198" h="1643076">
                  <a:moveTo>
                    <a:pt x="0" y="0"/>
                  </a:moveTo>
                  <a:lnTo>
                    <a:pt x="5146198" y="0"/>
                  </a:lnTo>
                  <a:lnTo>
                    <a:pt x="5146198" y="1643076"/>
                  </a:lnTo>
                  <a:lnTo>
                    <a:pt x="0" y="1643076"/>
                  </a:lnTo>
                  <a:lnTo>
                    <a:pt x="0" y="0"/>
                  </a:lnTo>
                  <a:close/>
                </a:path>
              </a:pathLst>
            </a:custGeom>
            <a:blipFill>
              <a:blip r:embed="rId5">
                <a:extLst>
                  <a:ext uri="{96DAC541-7B7A-43D3-8B79-37D633B846F1}">
                    <asvg:svgBlip xmlns:asvg="http://schemas.microsoft.com/office/drawing/2016/SVG/main" r:embed="rId6"/>
                  </a:ext>
                </a:extLst>
              </a:blip>
              <a:stretch>
                <a:fillRect t="-28301" b="-28301"/>
              </a:stretch>
            </a:blipFill>
          </p:spPr>
          <p:txBody>
            <a:bodyPr/>
            <a:lstStyle/>
            <a:p>
              <a:endParaRPr lang="en-001"/>
            </a:p>
          </p:txBody>
        </p:sp>
        <p:sp>
          <p:nvSpPr>
            <p:cNvPr id="16" name="TextBox 16"/>
            <p:cNvSpPr txBox="1"/>
            <p:nvPr/>
          </p:nvSpPr>
          <p:spPr>
            <a:xfrm>
              <a:off x="0" y="472567"/>
              <a:ext cx="5146198" cy="872756"/>
            </a:xfrm>
            <a:prstGeom prst="rect">
              <a:avLst/>
            </a:prstGeom>
          </p:spPr>
          <p:txBody>
            <a:bodyPr lIns="0" tIns="0" rIns="0" bIns="0" rtlCol="0" anchor="t">
              <a:spAutoFit/>
            </a:bodyPr>
            <a:lstStyle/>
            <a:p>
              <a:pPr algn="ctr">
                <a:lnSpc>
                  <a:spcPts val="5517"/>
                </a:lnSpc>
              </a:pPr>
              <a:r>
                <a:rPr lang="en-US" sz="3940">
                  <a:solidFill>
                    <a:srgbClr val="004AAD"/>
                  </a:solidFill>
                  <a:latin typeface="Canva Sans Bold"/>
                </a:rPr>
                <a:t>BUZZER</a:t>
              </a:r>
            </a:p>
          </p:txBody>
        </p:sp>
      </p:grpSp>
      <p:sp>
        <p:nvSpPr>
          <p:cNvPr id="17" name="AutoShape 17"/>
          <p:cNvSpPr/>
          <p:nvPr/>
        </p:nvSpPr>
        <p:spPr>
          <a:xfrm>
            <a:off x="10380227" y="5627573"/>
            <a:ext cx="3019425" cy="2543058"/>
          </a:xfrm>
          <a:prstGeom prst="line">
            <a:avLst/>
          </a:prstGeom>
          <a:ln w="38100" cap="flat">
            <a:solidFill>
              <a:srgbClr val="FFFFFF"/>
            </a:solidFill>
            <a:prstDash val="solid"/>
            <a:headEnd type="none" w="sm" len="sm"/>
            <a:tailEnd type="triangle" w="lg" len="med"/>
          </a:ln>
        </p:spPr>
        <p:txBody>
          <a:bodyPr/>
          <a:lstStyle/>
          <a:p>
            <a:endParaRPr lang="en-001"/>
          </a:p>
        </p:txBody>
      </p:sp>
      <p:sp>
        <p:nvSpPr>
          <p:cNvPr id="18" name="Freeform 18"/>
          <p:cNvSpPr/>
          <p:nvPr/>
        </p:nvSpPr>
        <p:spPr>
          <a:xfrm>
            <a:off x="14265888" y="826657"/>
            <a:ext cx="2127175" cy="2127175"/>
          </a:xfrm>
          <a:custGeom>
            <a:avLst/>
            <a:gdLst/>
            <a:ahLst/>
            <a:cxnLst/>
            <a:rect l="l" t="t" r="r" b="b"/>
            <a:pathLst>
              <a:path w="2127175" h="2127175">
                <a:moveTo>
                  <a:pt x="0" y="0"/>
                </a:moveTo>
                <a:lnTo>
                  <a:pt x="2127175" y="0"/>
                </a:lnTo>
                <a:lnTo>
                  <a:pt x="2127175" y="2127174"/>
                </a:lnTo>
                <a:lnTo>
                  <a:pt x="0" y="2127174"/>
                </a:lnTo>
                <a:lnTo>
                  <a:pt x="0" y="0"/>
                </a:lnTo>
                <a:close/>
              </a:path>
            </a:pathLst>
          </a:custGeom>
          <a:blipFill>
            <a:blip r:embed="rId7"/>
            <a:stretch>
              <a:fillRect/>
            </a:stretch>
          </a:blipFill>
        </p:spPr>
        <p:txBody>
          <a:bodyPr/>
          <a:lstStyle/>
          <a:p>
            <a:endParaRPr lang="en-001"/>
          </a:p>
        </p:txBody>
      </p:sp>
      <p:sp>
        <p:nvSpPr>
          <p:cNvPr id="19" name="AutoShape 19"/>
          <p:cNvSpPr/>
          <p:nvPr/>
        </p:nvSpPr>
        <p:spPr>
          <a:xfrm flipH="1" flipV="1">
            <a:off x="15329476" y="2953831"/>
            <a:ext cx="1430" cy="1972959"/>
          </a:xfrm>
          <a:prstGeom prst="line">
            <a:avLst/>
          </a:prstGeom>
          <a:ln w="38100" cap="flat">
            <a:solidFill>
              <a:srgbClr val="FFFFFF"/>
            </a:solidFill>
            <a:prstDash val="solid"/>
            <a:headEnd type="none" w="sm" len="sm"/>
            <a:tailEnd type="triangle" w="lg" len="med"/>
          </a:ln>
        </p:spPr>
        <p:txBody>
          <a:bodyPr/>
          <a:lstStyle/>
          <a:p>
            <a:endParaRPr lang="en-001"/>
          </a:p>
        </p:txBody>
      </p:sp>
      <p:grpSp>
        <p:nvGrpSpPr>
          <p:cNvPr id="20" name="Group 20"/>
          <p:cNvGrpSpPr/>
          <p:nvPr/>
        </p:nvGrpSpPr>
        <p:grpSpPr>
          <a:xfrm>
            <a:off x="7130351" y="8705951"/>
            <a:ext cx="3089688" cy="1581049"/>
            <a:chOff x="0" y="0"/>
            <a:chExt cx="4119585" cy="2108066"/>
          </a:xfrm>
        </p:grpSpPr>
        <p:sp>
          <p:nvSpPr>
            <p:cNvPr id="21" name="Freeform 21"/>
            <p:cNvSpPr/>
            <p:nvPr/>
          </p:nvSpPr>
          <p:spPr>
            <a:xfrm>
              <a:off x="0" y="0"/>
              <a:ext cx="4119585" cy="2108066"/>
            </a:xfrm>
            <a:custGeom>
              <a:avLst/>
              <a:gdLst/>
              <a:ahLst/>
              <a:cxnLst/>
              <a:rect l="l" t="t" r="r" b="b"/>
              <a:pathLst>
                <a:path w="4119585" h="2108066">
                  <a:moveTo>
                    <a:pt x="0" y="0"/>
                  </a:moveTo>
                  <a:lnTo>
                    <a:pt x="4119585" y="0"/>
                  </a:lnTo>
                  <a:lnTo>
                    <a:pt x="4119585" y="2108066"/>
                  </a:lnTo>
                  <a:lnTo>
                    <a:pt x="0" y="2108066"/>
                  </a:lnTo>
                  <a:lnTo>
                    <a:pt x="0" y="0"/>
                  </a:lnTo>
                  <a:close/>
                </a:path>
              </a:pathLst>
            </a:custGeom>
            <a:blipFill>
              <a:blip r:embed="rId5">
                <a:extLst>
                  <a:ext uri="{96DAC541-7B7A-43D3-8B79-37D633B846F1}">
                    <asvg:svgBlip xmlns:asvg="http://schemas.microsoft.com/office/drawing/2016/SVG/main" r:embed="rId6"/>
                  </a:ext>
                </a:extLst>
              </a:blip>
              <a:stretch>
                <a:fillRect l="-1171" r="-1171"/>
              </a:stretch>
            </a:blipFill>
          </p:spPr>
          <p:txBody>
            <a:bodyPr/>
            <a:lstStyle/>
            <a:p>
              <a:endParaRPr lang="en-001"/>
            </a:p>
          </p:txBody>
        </p:sp>
        <p:sp>
          <p:nvSpPr>
            <p:cNvPr id="22" name="TextBox 22"/>
            <p:cNvSpPr txBox="1"/>
            <p:nvPr/>
          </p:nvSpPr>
          <p:spPr>
            <a:xfrm>
              <a:off x="0" y="282605"/>
              <a:ext cx="4119585" cy="1646283"/>
            </a:xfrm>
            <a:prstGeom prst="rect">
              <a:avLst/>
            </a:prstGeom>
          </p:spPr>
          <p:txBody>
            <a:bodyPr lIns="0" tIns="0" rIns="0" bIns="0" rtlCol="0" anchor="t">
              <a:spAutoFit/>
            </a:bodyPr>
            <a:lstStyle/>
            <a:p>
              <a:pPr algn="ctr">
                <a:lnSpc>
                  <a:spcPts val="3320"/>
                </a:lnSpc>
              </a:pPr>
              <a:r>
                <a:rPr lang="en-US" sz="2371">
                  <a:solidFill>
                    <a:srgbClr val="004AAD"/>
                  </a:solidFill>
                  <a:latin typeface="Canva Sans Bold"/>
                </a:rPr>
                <a:t>GPS/GSM Module SIM808</a:t>
              </a:r>
            </a:p>
            <a:p>
              <a:pPr algn="ctr">
                <a:lnSpc>
                  <a:spcPts val="3320"/>
                </a:lnSpc>
              </a:pPr>
              <a:endParaRPr lang="en-US" sz="2371">
                <a:solidFill>
                  <a:srgbClr val="004AAD"/>
                </a:solidFill>
                <a:latin typeface="Canva Sans Bold"/>
              </a:endParaRPr>
            </a:p>
          </p:txBody>
        </p:sp>
      </p:grpSp>
      <p:sp>
        <p:nvSpPr>
          <p:cNvPr id="23" name="AutoShape 23"/>
          <p:cNvSpPr/>
          <p:nvPr/>
        </p:nvSpPr>
        <p:spPr>
          <a:xfrm flipH="1">
            <a:off x="8675195" y="6470864"/>
            <a:ext cx="18449" cy="2235086"/>
          </a:xfrm>
          <a:prstGeom prst="line">
            <a:avLst/>
          </a:prstGeom>
          <a:ln w="38100" cap="flat">
            <a:solidFill>
              <a:srgbClr val="FFFFFF"/>
            </a:solidFill>
            <a:prstDash val="solid"/>
            <a:headEnd type="none" w="sm" len="sm"/>
            <a:tailEnd type="triangle" w="lg" len="med"/>
          </a:ln>
        </p:spPr>
        <p:txBody>
          <a:bodyPr/>
          <a:lstStyle/>
          <a:p>
            <a:endParaRPr lang="en-001"/>
          </a:p>
        </p:txBody>
      </p:sp>
      <p:sp>
        <p:nvSpPr>
          <p:cNvPr id="24" name="Freeform 24"/>
          <p:cNvSpPr/>
          <p:nvPr/>
        </p:nvSpPr>
        <p:spPr>
          <a:xfrm>
            <a:off x="490608" y="7325677"/>
            <a:ext cx="2886304" cy="2886304"/>
          </a:xfrm>
          <a:custGeom>
            <a:avLst/>
            <a:gdLst/>
            <a:ahLst/>
            <a:cxnLst/>
            <a:rect l="l" t="t" r="r" b="b"/>
            <a:pathLst>
              <a:path w="2886304" h="2886304">
                <a:moveTo>
                  <a:pt x="0" y="0"/>
                </a:moveTo>
                <a:lnTo>
                  <a:pt x="2886304" y="0"/>
                </a:lnTo>
                <a:lnTo>
                  <a:pt x="2886304" y="2886304"/>
                </a:lnTo>
                <a:lnTo>
                  <a:pt x="0" y="2886304"/>
                </a:lnTo>
                <a:lnTo>
                  <a:pt x="0" y="0"/>
                </a:lnTo>
                <a:close/>
              </a:path>
            </a:pathLst>
          </a:custGeom>
          <a:blipFill>
            <a:blip r:embed="rId8"/>
            <a:stretch>
              <a:fillRect/>
            </a:stretch>
          </a:blipFill>
        </p:spPr>
        <p:txBody>
          <a:bodyPr/>
          <a:lstStyle/>
          <a:p>
            <a:endParaRPr lang="en-001"/>
          </a:p>
        </p:txBody>
      </p:sp>
      <p:sp>
        <p:nvSpPr>
          <p:cNvPr id="25" name="TextBox 25"/>
          <p:cNvSpPr txBox="1"/>
          <p:nvPr/>
        </p:nvSpPr>
        <p:spPr>
          <a:xfrm>
            <a:off x="799688" y="338430"/>
            <a:ext cx="5214342" cy="887095"/>
          </a:xfrm>
          <a:prstGeom prst="rect">
            <a:avLst/>
          </a:prstGeom>
        </p:spPr>
        <p:txBody>
          <a:bodyPr lIns="0" tIns="0" rIns="0" bIns="0" rtlCol="0" anchor="t">
            <a:spAutoFit/>
          </a:bodyPr>
          <a:lstStyle/>
          <a:p>
            <a:pPr algn="ctr">
              <a:lnSpc>
                <a:spcPts val="7279"/>
              </a:lnSpc>
              <a:spcBef>
                <a:spcPct val="0"/>
              </a:spcBef>
            </a:pPr>
            <a:r>
              <a:rPr lang="en-US" sz="5199">
                <a:solidFill>
                  <a:srgbClr val="FFFFFF"/>
                </a:solidFill>
                <a:latin typeface="Canva Sans Bold"/>
              </a:rPr>
              <a:t>Hardware Level </a:t>
            </a:r>
          </a:p>
        </p:txBody>
      </p:sp>
      <p:sp>
        <p:nvSpPr>
          <p:cNvPr id="26" name="AutoShape 26"/>
          <p:cNvSpPr/>
          <p:nvPr/>
        </p:nvSpPr>
        <p:spPr>
          <a:xfrm flipH="1" flipV="1">
            <a:off x="3376912" y="8768829"/>
            <a:ext cx="3753439" cy="727646"/>
          </a:xfrm>
          <a:prstGeom prst="line">
            <a:avLst/>
          </a:prstGeom>
          <a:ln w="38100" cap="flat">
            <a:solidFill>
              <a:srgbClr val="FFFFFF"/>
            </a:solidFill>
            <a:prstDash val="solid"/>
            <a:headEnd type="none" w="sm" len="sm"/>
            <a:tailEnd type="triangle" w="lg" len="med"/>
          </a:ln>
        </p:spPr>
        <p:txBody>
          <a:bodyPr/>
          <a:lstStyle/>
          <a:p>
            <a:endParaRPr lang="en-00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TextBox 3"/>
          <p:cNvSpPr txBox="1"/>
          <p:nvPr/>
        </p:nvSpPr>
        <p:spPr>
          <a:xfrm>
            <a:off x="507235" y="971550"/>
            <a:ext cx="16752065" cy="7929099"/>
          </a:xfrm>
          <a:prstGeom prst="rect">
            <a:avLst/>
          </a:prstGeom>
        </p:spPr>
        <p:txBody>
          <a:bodyPr lIns="0" tIns="0" rIns="0" bIns="0" rtlCol="0" anchor="t">
            <a:spAutoFit/>
          </a:bodyPr>
          <a:lstStyle/>
          <a:p>
            <a:pPr>
              <a:lnSpc>
                <a:spcPts val="3701"/>
              </a:lnSpc>
              <a:spcBef>
                <a:spcPct val="0"/>
              </a:spcBef>
            </a:pPr>
            <a:r>
              <a:rPr lang="en-US" sz="2643" dirty="0">
                <a:solidFill>
                  <a:srgbClr val="FCFCFB"/>
                </a:solidFill>
                <a:latin typeface="Canva Sans Bold"/>
              </a:rPr>
              <a:t>After the system start , The camera starts taking frames and send it to the SOC like Raspberry pi .</a:t>
            </a:r>
          </a:p>
          <a:p>
            <a:pPr>
              <a:lnSpc>
                <a:spcPts val="3701"/>
              </a:lnSpc>
              <a:spcBef>
                <a:spcPct val="0"/>
              </a:spcBef>
            </a:pPr>
            <a:r>
              <a:rPr lang="en-US" sz="2643" dirty="0">
                <a:solidFill>
                  <a:srgbClr val="FCFCFB"/>
                </a:solidFill>
                <a:latin typeface="Canva Sans Bold"/>
              </a:rPr>
              <a:t> The Raspberry pi  makes the processing using AI techniques:</a:t>
            </a:r>
          </a:p>
          <a:p>
            <a:pPr>
              <a:lnSpc>
                <a:spcPts val="3701"/>
              </a:lnSpc>
              <a:spcBef>
                <a:spcPct val="0"/>
              </a:spcBef>
            </a:pPr>
            <a:r>
              <a:rPr lang="en-US" sz="2643" dirty="0">
                <a:solidFill>
                  <a:srgbClr val="FCFCFB"/>
                </a:solidFill>
                <a:latin typeface="Canva Sans Bold"/>
              </a:rPr>
              <a:t>  Computer vision like open cv , object detection  , </a:t>
            </a:r>
            <a:r>
              <a:rPr lang="en-US" sz="2643" dirty="0" err="1">
                <a:solidFill>
                  <a:srgbClr val="FCFCFB"/>
                </a:solidFill>
                <a:latin typeface="Canva Sans Bold"/>
              </a:rPr>
              <a:t>MediaPipe</a:t>
            </a:r>
            <a:r>
              <a:rPr lang="en-US" sz="2643" dirty="0">
                <a:solidFill>
                  <a:srgbClr val="FCFCFB"/>
                </a:solidFill>
                <a:latin typeface="Canva Sans Bold"/>
              </a:rPr>
              <a:t>  and other techniques ... .</a:t>
            </a:r>
          </a:p>
          <a:p>
            <a:pPr>
              <a:lnSpc>
                <a:spcPts val="3701"/>
              </a:lnSpc>
              <a:spcBef>
                <a:spcPct val="0"/>
              </a:spcBef>
            </a:pPr>
            <a:r>
              <a:rPr lang="en-US" sz="2643" dirty="0">
                <a:solidFill>
                  <a:srgbClr val="FCFCFB"/>
                </a:solidFill>
                <a:latin typeface="Canva Sans Bold"/>
              </a:rPr>
              <a:t>Machine learning like KNN ,Support Vector Machines (SVM) ,and other techniques...  .</a:t>
            </a:r>
          </a:p>
          <a:p>
            <a:pPr>
              <a:lnSpc>
                <a:spcPts val="3701"/>
              </a:lnSpc>
              <a:spcBef>
                <a:spcPct val="0"/>
              </a:spcBef>
            </a:pPr>
            <a:r>
              <a:rPr lang="en-US" sz="2643" dirty="0">
                <a:solidFill>
                  <a:srgbClr val="FCFCFB"/>
                </a:solidFill>
                <a:latin typeface="Canva Sans Bold"/>
              </a:rPr>
              <a:t> Neural Network  and Deep Learning like CNN </a:t>
            </a:r>
          </a:p>
          <a:p>
            <a:pPr>
              <a:lnSpc>
                <a:spcPts val="3701"/>
              </a:lnSpc>
              <a:spcBef>
                <a:spcPct val="0"/>
              </a:spcBef>
            </a:pPr>
            <a:r>
              <a:rPr lang="en-US" sz="2643" dirty="0">
                <a:solidFill>
                  <a:srgbClr val="FCFCFB"/>
                </a:solidFill>
                <a:latin typeface="Canva Sans Bold"/>
              </a:rPr>
              <a:t>     to detect:</a:t>
            </a:r>
          </a:p>
          <a:p>
            <a:pPr>
              <a:lnSpc>
                <a:spcPts val="3701"/>
              </a:lnSpc>
              <a:spcBef>
                <a:spcPct val="0"/>
              </a:spcBef>
            </a:pPr>
            <a:r>
              <a:rPr lang="en-US" sz="2643" dirty="0">
                <a:solidFill>
                  <a:srgbClr val="FCFCFB"/>
                </a:solidFill>
                <a:latin typeface="Canva Sans Bold"/>
              </a:rPr>
              <a:t>Verifying the driver's identity .</a:t>
            </a:r>
          </a:p>
          <a:p>
            <a:pPr>
              <a:lnSpc>
                <a:spcPts val="3701"/>
              </a:lnSpc>
              <a:spcBef>
                <a:spcPct val="0"/>
              </a:spcBef>
            </a:pPr>
            <a:r>
              <a:rPr lang="en-US" sz="2643" dirty="0">
                <a:solidFill>
                  <a:srgbClr val="FCFCFB"/>
                </a:solidFill>
                <a:latin typeface="Canva Sans Bold"/>
              </a:rPr>
              <a:t> Driver Drowsiness levels .</a:t>
            </a:r>
          </a:p>
          <a:p>
            <a:pPr>
              <a:lnSpc>
                <a:spcPts val="3701"/>
              </a:lnSpc>
              <a:spcBef>
                <a:spcPct val="0"/>
              </a:spcBef>
            </a:pPr>
            <a:r>
              <a:rPr lang="en-US" sz="2643" dirty="0">
                <a:solidFill>
                  <a:srgbClr val="FCFCFB"/>
                </a:solidFill>
                <a:latin typeface="Canva Sans Bold"/>
              </a:rPr>
              <a:t> Drivers Expression if he is nervous or on mode that doesn't make him Naturel the system send alert .</a:t>
            </a:r>
          </a:p>
          <a:p>
            <a:pPr>
              <a:lnSpc>
                <a:spcPts val="3701"/>
              </a:lnSpc>
              <a:spcBef>
                <a:spcPct val="0"/>
              </a:spcBef>
            </a:pPr>
            <a:r>
              <a:rPr lang="en-US" sz="2643" dirty="0">
                <a:solidFill>
                  <a:srgbClr val="FCFCFB"/>
                </a:solidFill>
                <a:latin typeface="Canva Sans Bold"/>
              </a:rPr>
              <a:t>And detect what is the action Driver do if he Smoking or drinking or eating the System sent alarm and suggest to Take A break until he finishing from his action.</a:t>
            </a:r>
          </a:p>
          <a:p>
            <a:pPr>
              <a:lnSpc>
                <a:spcPts val="3701"/>
              </a:lnSpc>
              <a:spcBef>
                <a:spcPct val="0"/>
              </a:spcBef>
            </a:pPr>
            <a:r>
              <a:rPr lang="en-US" sz="2643" dirty="0">
                <a:solidFill>
                  <a:srgbClr val="FCFCFB"/>
                </a:solidFill>
                <a:latin typeface="Canva Sans Bold"/>
              </a:rPr>
              <a:t>And system can Detect Driver Eye Blink Frequency  , Eye Location (Right ,Left),Head position and Zone , Gaze Direction and Zone . </a:t>
            </a:r>
          </a:p>
          <a:p>
            <a:pPr>
              <a:lnSpc>
                <a:spcPts val="3701"/>
              </a:lnSpc>
              <a:spcBef>
                <a:spcPct val="0"/>
              </a:spcBef>
            </a:pPr>
            <a:r>
              <a:rPr lang="en-US" sz="2643" dirty="0">
                <a:solidFill>
                  <a:srgbClr val="FCFCFB"/>
                </a:solidFill>
                <a:latin typeface="Canva Sans Bold"/>
              </a:rPr>
              <a:t>  after detect these techniques we can detect the level of Drowsiness and The driver's concentration while driving </a:t>
            </a:r>
          </a:p>
          <a:p>
            <a:pPr>
              <a:lnSpc>
                <a:spcPts val="3701"/>
              </a:lnSpc>
              <a:spcBef>
                <a:spcPct val="0"/>
              </a:spcBef>
            </a:pPr>
            <a:r>
              <a:rPr lang="en-US" sz="2643" dirty="0">
                <a:solidFill>
                  <a:srgbClr val="FCFCFB"/>
                </a:solidFill>
                <a:latin typeface="Canva Sans Bold"/>
              </a:rPr>
              <a:t>     if is the high level of Drowsiness and Distraction the driver send alert on screen and make high alarm using sound system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001"/>
          </a:p>
        </p:txBody>
      </p:sp>
      <p:sp>
        <p:nvSpPr>
          <p:cNvPr id="3" name="Freeform 3"/>
          <p:cNvSpPr/>
          <p:nvPr/>
        </p:nvSpPr>
        <p:spPr>
          <a:xfrm>
            <a:off x="5794158" y="2449576"/>
            <a:ext cx="7221148" cy="7221148"/>
          </a:xfrm>
          <a:custGeom>
            <a:avLst/>
            <a:gdLst/>
            <a:ahLst/>
            <a:cxnLst/>
            <a:rect l="l" t="t" r="r" b="b"/>
            <a:pathLst>
              <a:path w="7221148" h="7221148">
                <a:moveTo>
                  <a:pt x="0" y="0"/>
                </a:moveTo>
                <a:lnTo>
                  <a:pt x="7221148" y="0"/>
                </a:lnTo>
                <a:lnTo>
                  <a:pt x="7221148" y="7221148"/>
                </a:lnTo>
                <a:lnTo>
                  <a:pt x="0" y="7221148"/>
                </a:lnTo>
                <a:lnTo>
                  <a:pt x="0" y="0"/>
                </a:lnTo>
                <a:close/>
              </a:path>
            </a:pathLst>
          </a:custGeom>
          <a:blipFill>
            <a:blip r:embed="rId3"/>
            <a:stretch>
              <a:fillRect/>
            </a:stretch>
          </a:blipFill>
        </p:spPr>
        <p:txBody>
          <a:bodyPr/>
          <a:lstStyle/>
          <a:p>
            <a:endParaRPr lang="en-001"/>
          </a:p>
        </p:txBody>
      </p:sp>
      <p:sp>
        <p:nvSpPr>
          <p:cNvPr id="4" name="TextBox 4"/>
          <p:cNvSpPr txBox="1"/>
          <p:nvPr/>
        </p:nvSpPr>
        <p:spPr>
          <a:xfrm>
            <a:off x="250357" y="701074"/>
            <a:ext cx="7240868" cy="964772"/>
          </a:xfrm>
          <a:prstGeom prst="rect">
            <a:avLst/>
          </a:prstGeom>
        </p:spPr>
        <p:txBody>
          <a:bodyPr lIns="0" tIns="0" rIns="0" bIns="0" rtlCol="0" anchor="t">
            <a:spAutoFit/>
          </a:bodyPr>
          <a:lstStyle/>
          <a:p>
            <a:pPr algn="ctr">
              <a:lnSpc>
                <a:spcPts val="7819"/>
              </a:lnSpc>
            </a:pPr>
            <a:r>
              <a:rPr lang="en-US" sz="5585">
                <a:solidFill>
                  <a:srgbClr val="FFFFFF"/>
                </a:solidFill>
                <a:latin typeface="Canva Sans Bold"/>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TotalTime>
  <Words>812</Words>
  <Application>Microsoft Office PowerPoint</Application>
  <PresentationFormat>Custom</PresentationFormat>
  <Paragraphs>113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Canva Sans Bold</vt:lpstr>
      <vt:lpstr>Canva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a heading</dc:title>
  <cp:lastModifiedBy>احمد عبد العال احمد ابراهيم ابو حديد</cp:lastModifiedBy>
  <cp:revision>4</cp:revision>
  <dcterms:created xsi:type="dcterms:W3CDTF">2006-08-16T00:00:00Z</dcterms:created>
  <dcterms:modified xsi:type="dcterms:W3CDTF">2023-11-09T15:40:21Z</dcterms:modified>
  <dc:identifier>DAFzmhsA0bE</dc:identifier>
</cp:coreProperties>
</file>